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84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5" r:id="rId2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925AA6"/>
    <a:srgbClr val="00803B"/>
    <a:srgbClr val="32B824"/>
    <a:srgbClr val="144A0E"/>
    <a:srgbClr val="1F7416"/>
    <a:srgbClr val="258A1A"/>
    <a:srgbClr val="2997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0AEFA2-68E6-64E8-41A9-E02DC4E18880}" v="4" dt="2026-01-14T10:27:37.272"/>
    <p1510:client id="{FEC31001-7B4D-284D-C987-811FD7827E00}" v="2291" dt="2026-01-14T16:30:48.8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8"/>
  </p:normalViewPr>
  <p:slideViewPr>
    <p:cSldViewPr snapToGrid="0">
      <p:cViewPr varScale="1">
        <p:scale>
          <a:sx n="117" d="100"/>
          <a:sy n="117" d="100"/>
        </p:scale>
        <p:origin x="36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243208" y="2858518"/>
            <a:ext cx="9144000" cy="1668284"/>
          </a:xfrm>
        </p:spPr>
        <p:txBody>
          <a:bodyPr anchor="b"/>
          <a:lstStyle>
            <a:lvl1pPr algn="l">
              <a:lnSpc>
                <a:spcPct val="100000"/>
              </a:lnSpc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 err="1"/>
              <a:t>заголовок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243208" y="4700789"/>
            <a:ext cx="9144000" cy="678712"/>
          </a:xfr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400">
                <a:latin typeface="PermianSansTypeface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подзаголовок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972751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F5179A5D-2E1E-4122-8255-844A0375AB5C}" type="datetimeFigureOut">
              <a:rPr lang="ru-RU" smtClean="0"/>
              <a:pPr/>
              <a:t>14.01.2026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751" y="764789"/>
            <a:ext cx="1237049" cy="1237049"/>
          </a:xfrm>
          <a:prstGeom prst="rect">
            <a:avLst/>
          </a:prstGeom>
        </p:spPr>
      </p:pic>
      <p:sp>
        <p:nvSpPr>
          <p:cNvPr id="10" name="Прямоугольник 9"/>
          <p:cNvSpPr/>
          <p:nvPr userDrawn="1"/>
        </p:nvSpPr>
        <p:spPr>
          <a:xfrm>
            <a:off x="972751" y="2559028"/>
            <a:ext cx="109074" cy="282047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0321689" y="229031"/>
            <a:ext cx="662088" cy="69489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0969171" y="-28046"/>
            <a:ext cx="1222829" cy="128341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0572483" y="644154"/>
            <a:ext cx="954313" cy="100159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11132457" y="5169133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11433892" y="4646864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0830666" y="5664686"/>
            <a:ext cx="993018" cy="1042217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10049401" y="3948216"/>
            <a:ext cx="595302" cy="6247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/>
          <p:cNvSpPr/>
          <p:nvPr userDrawn="1"/>
        </p:nvSpPr>
        <p:spPr>
          <a:xfrm>
            <a:off x="10460196" y="3754568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 userDrawn="1"/>
        </p:nvSpPr>
        <p:spPr>
          <a:xfrm>
            <a:off x="11293215" y="2514070"/>
            <a:ext cx="369013" cy="387296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>
            <a:off x="375138" y="596905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-181705" y="6066489"/>
            <a:ext cx="662088" cy="69489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10566898" y="6094197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376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79A5D-2E1E-4122-8255-844A0375AB5C}" type="datetimeFigureOut">
              <a:rPr lang="ru-RU" smtClean="0"/>
              <a:pPr/>
              <a:t>14.01.2026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0" y="365124"/>
            <a:ext cx="12192000" cy="13255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9" name="Текст 8"/>
          <p:cNvSpPr>
            <a:spLocks noGrp="1"/>
          </p:cNvSpPr>
          <p:nvPr>
            <p:ph type="body" sz="quarter" idx="13"/>
          </p:nvPr>
        </p:nvSpPr>
        <p:spPr>
          <a:xfrm>
            <a:off x="838200" y="1851660"/>
            <a:ext cx="10515600" cy="427450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235327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24531" y="524933"/>
            <a:ext cx="3650668" cy="2051579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411362" y="1375304"/>
            <a:ext cx="485775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5360563" y="3037417"/>
            <a:ext cx="6831437" cy="32363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1122044" y="3037417"/>
            <a:ext cx="3873289" cy="32363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0" y="0"/>
            <a:ext cx="1693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1618322" y="524933"/>
            <a:ext cx="573678" cy="6021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0974229" y="229763"/>
            <a:ext cx="281236" cy="2951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368402" y="5913315"/>
            <a:ext cx="388412" cy="4076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8472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F5179A5D-2E1E-4122-8255-844A0375AB5C}" type="datetimeFigureOut">
              <a:rPr lang="ru-RU" smtClean="0"/>
              <a:pPr/>
              <a:t>14.01.2026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5" name="Рисунок 6"/>
          <p:cNvSpPr>
            <a:spLocks noGrp="1"/>
          </p:cNvSpPr>
          <p:nvPr>
            <p:ph type="pic" sz="quarter" idx="13"/>
          </p:nvPr>
        </p:nvSpPr>
        <p:spPr>
          <a:xfrm>
            <a:off x="0" y="988484"/>
            <a:ext cx="8610600" cy="34141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7703132" y="1580885"/>
            <a:ext cx="3650668" cy="2051579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Текст 2"/>
          <p:cNvSpPr>
            <a:spLocks noGrp="1"/>
          </p:cNvSpPr>
          <p:nvPr>
            <p:ph type="body" idx="1"/>
          </p:nvPr>
        </p:nvSpPr>
        <p:spPr>
          <a:xfrm>
            <a:off x="838200" y="4847961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" name="Текст 2"/>
          <p:cNvSpPr>
            <a:spLocks noGrp="1"/>
          </p:cNvSpPr>
          <p:nvPr>
            <p:ph type="body" idx="14"/>
          </p:nvPr>
        </p:nvSpPr>
        <p:spPr>
          <a:xfrm>
            <a:off x="4038600" y="4847960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2"/>
          <p:cNvSpPr>
            <a:spLocks noGrp="1"/>
          </p:cNvSpPr>
          <p:nvPr>
            <p:ph type="body" idx="15"/>
          </p:nvPr>
        </p:nvSpPr>
        <p:spPr>
          <a:xfrm>
            <a:off x="7239000" y="4842934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624956" y="4834581"/>
            <a:ext cx="192346" cy="201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8344945" y="674600"/>
            <a:ext cx="573678" cy="6021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6597293" y="218281"/>
            <a:ext cx="369013" cy="387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3846254" y="4834581"/>
            <a:ext cx="192346" cy="201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7046654" y="4834581"/>
            <a:ext cx="192346" cy="201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5282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6311" y="2478088"/>
            <a:ext cx="4857750" cy="2852737"/>
          </a:xfrm>
        </p:spPr>
        <p:txBody>
          <a:bodyPr anchor="b"/>
          <a:lstStyle>
            <a:lvl1pPr>
              <a:lnSpc>
                <a:spcPct val="10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46311" y="5357813"/>
            <a:ext cx="4857750" cy="73818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8805332" y="0"/>
            <a:ext cx="3081867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5621867" y="0"/>
            <a:ext cx="3064933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3979964" y="299371"/>
            <a:ext cx="662088" cy="69489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4621992" y="0"/>
            <a:ext cx="1222829" cy="128341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4230758" y="714494"/>
            <a:ext cx="954313" cy="100159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1919658" y="606567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11362815" y="6163109"/>
            <a:ext cx="662088" cy="69489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019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-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838200" y="2248429"/>
            <a:ext cx="3869267" cy="23611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" name="Прямоугольник 1"/>
          <p:cNvSpPr/>
          <p:nvPr userDrawn="1"/>
        </p:nvSpPr>
        <p:spPr>
          <a:xfrm>
            <a:off x="5266266" y="795867"/>
            <a:ext cx="5960534" cy="15917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5266266" y="2633133"/>
            <a:ext cx="5960534" cy="15917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5266266" y="4470399"/>
            <a:ext cx="5960534" cy="15917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5265738" y="795338"/>
            <a:ext cx="2082800" cy="1592262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Рисунок 7"/>
          <p:cNvSpPr>
            <a:spLocks noGrp="1"/>
          </p:cNvSpPr>
          <p:nvPr>
            <p:ph type="pic" sz="quarter" idx="11"/>
          </p:nvPr>
        </p:nvSpPr>
        <p:spPr>
          <a:xfrm>
            <a:off x="5265738" y="2632604"/>
            <a:ext cx="2082800" cy="1592262"/>
          </a:xfrm>
        </p:spPr>
        <p:txBody>
          <a:bodyPr/>
          <a:lstStyle/>
          <a:p>
            <a:endParaRPr lang="ru-RU"/>
          </a:p>
        </p:txBody>
      </p:sp>
      <p:sp>
        <p:nvSpPr>
          <p:cNvPr id="12" name="Рисунок 7"/>
          <p:cNvSpPr>
            <a:spLocks noGrp="1"/>
          </p:cNvSpPr>
          <p:nvPr>
            <p:ph type="pic" sz="quarter" idx="12"/>
          </p:nvPr>
        </p:nvSpPr>
        <p:spPr>
          <a:xfrm>
            <a:off x="5265738" y="4470134"/>
            <a:ext cx="2082800" cy="1592262"/>
          </a:xfrm>
        </p:spPr>
        <p:txBody>
          <a:bodyPr/>
          <a:lstStyle/>
          <a:p>
            <a:endParaRPr lang="ru-RU"/>
          </a:p>
        </p:txBody>
      </p:sp>
      <p:sp>
        <p:nvSpPr>
          <p:cNvPr id="13" name="Текст 2"/>
          <p:cNvSpPr>
            <a:spLocks noGrp="1"/>
          </p:cNvSpPr>
          <p:nvPr>
            <p:ph type="body" idx="1"/>
          </p:nvPr>
        </p:nvSpPr>
        <p:spPr>
          <a:xfrm>
            <a:off x="7594600" y="1016189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idx="13"/>
          </p:nvPr>
        </p:nvSpPr>
        <p:spPr>
          <a:xfrm>
            <a:off x="7594600" y="2834740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2"/>
          <p:cNvSpPr>
            <a:spLocks noGrp="1"/>
          </p:cNvSpPr>
          <p:nvPr>
            <p:ph type="body" idx="14"/>
          </p:nvPr>
        </p:nvSpPr>
        <p:spPr>
          <a:xfrm>
            <a:off x="7594600" y="4682143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1104592" y="5394464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10768579" y="6375107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 userDrawn="1"/>
        </p:nvSpPr>
        <p:spPr>
          <a:xfrm>
            <a:off x="4305129" y="4470134"/>
            <a:ext cx="595302" cy="6247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>
            <a:off x="4715924" y="4276486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10509290" y="355847"/>
            <a:ext cx="595302" cy="6247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10939961" y="494552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 userDrawn="1"/>
        </p:nvSpPr>
        <p:spPr>
          <a:xfrm>
            <a:off x="11632096" y="134659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/>
          <p:cNvSpPr/>
          <p:nvPr userDrawn="1"/>
        </p:nvSpPr>
        <p:spPr>
          <a:xfrm>
            <a:off x="11643692" y="4987890"/>
            <a:ext cx="884321" cy="928135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494430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-244699" y="-244699"/>
            <a:ext cx="12672812" cy="7405353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16278" y="2795194"/>
            <a:ext cx="5950857" cy="1325563"/>
          </a:xfr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/>
          <a:lstStyle>
            <a:lvl1pPr algn="ctr"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453031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38600" y="365125"/>
            <a:ext cx="73152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38600" y="1825625"/>
            <a:ext cx="7315200" cy="435133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4"/>
          </p:nvPr>
        </p:nvSpPr>
        <p:spPr>
          <a:xfrm>
            <a:off x="251582" y="0"/>
            <a:ext cx="3493104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110964" y="6176962"/>
            <a:ext cx="406878" cy="4270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658460" y="6047467"/>
            <a:ext cx="246763" cy="2589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10927317" y="193901"/>
            <a:ext cx="520538" cy="5463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1133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38600" y="365125"/>
            <a:ext cx="73152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38600" y="1973943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4"/>
          </p:nvPr>
        </p:nvSpPr>
        <p:spPr>
          <a:xfrm>
            <a:off x="251582" y="0"/>
            <a:ext cx="3493104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110964" y="6176962"/>
            <a:ext cx="406878" cy="4270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658460" y="6047467"/>
            <a:ext cx="246763" cy="2589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10927317" y="193901"/>
            <a:ext cx="520538" cy="5463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бъект 2"/>
          <p:cNvSpPr>
            <a:spLocks noGrp="1"/>
          </p:cNvSpPr>
          <p:nvPr>
            <p:ph idx="15"/>
          </p:nvPr>
        </p:nvSpPr>
        <p:spPr>
          <a:xfrm>
            <a:off x="4038600" y="2554514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Объект 2"/>
          <p:cNvSpPr>
            <a:spLocks noGrp="1"/>
          </p:cNvSpPr>
          <p:nvPr>
            <p:ph idx="16"/>
          </p:nvPr>
        </p:nvSpPr>
        <p:spPr>
          <a:xfrm>
            <a:off x="4038600" y="3534229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3" name="Объект 2"/>
          <p:cNvSpPr>
            <a:spLocks noGrp="1"/>
          </p:cNvSpPr>
          <p:nvPr>
            <p:ph idx="17"/>
          </p:nvPr>
        </p:nvSpPr>
        <p:spPr>
          <a:xfrm>
            <a:off x="4038600" y="4114800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Объект 2"/>
          <p:cNvSpPr>
            <a:spLocks noGrp="1"/>
          </p:cNvSpPr>
          <p:nvPr>
            <p:ph idx="18"/>
          </p:nvPr>
        </p:nvSpPr>
        <p:spPr>
          <a:xfrm>
            <a:off x="4038600" y="5116285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Объект 2"/>
          <p:cNvSpPr>
            <a:spLocks noGrp="1"/>
          </p:cNvSpPr>
          <p:nvPr>
            <p:ph idx="19"/>
          </p:nvPr>
        </p:nvSpPr>
        <p:spPr>
          <a:xfrm>
            <a:off x="4038600" y="5696856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950239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838200" y="2177143"/>
            <a:ext cx="4925785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6428015" y="2177143"/>
            <a:ext cx="4925785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2628864" y="1937433"/>
            <a:ext cx="1344456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8167484" y="1882894"/>
            <a:ext cx="1446845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1094480" y="2846730"/>
            <a:ext cx="42991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1094480" y="3670642"/>
            <a:ext cx="4299187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6682481" y="2846730"/>
            <a:ext cx="42991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6682481" y="3670642"/>
            <a:ext cx="4299187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833927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838200" y="2177143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4606471" y="2177143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8374743" y="2177142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747157" y="1937433"/>
            <a:ext cx="1161143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5515427" y="1882894"/>
            <a:ext cx="1161143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9283699" y="1882894"/>
            <a:ext cx="1161143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1028474" y="2846730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1028474" y="3670642"/>
            <a:ext cx="2600098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4794931" y="2846730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4794931" y="3670642"/>
            <a:ext cx="2600098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8561388" y="2843667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8561388" y="3667579"/>
            <a:ext cx="2600098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1658575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678542" y="2177143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3437617" y="2177143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6185879" y="2177142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471385" y="1937433"/>
            <a:ext cx="1002918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4230459" y="1882894"/>
            <a:ext cx="1002918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6978721" y="1882894"/>
            <a:ext cx="1002918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868816" y="2846730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868816" y="3670642"/>
            <a:ext cx="2245791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3626077" y="2846730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3626077" y="3670642"/>
            <a:ext cx="2245791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6372524" y="2843667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6372524" y="3667579"/>
            <a:ext cx="2245791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8945635" y="2177142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9738477" y="1882894"/>
            <a:ext cx="1002918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Текст 2"/>
          <p:cNvSpPr>
            <a:spLocks noGrp="1"/>
          </p:cNvSpPr>
          <p:nvPr>
            <p:ph type="body" idx="14"/>
          </p:nvPr>
        </p:nvSpPr>
        <p:spPr>
          <a:xfrm>
            <a:off x="9132280" y="2843667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Объект 3"/>
          <p:cNvSpPr>
            <a:spLocks noGrp="1"/>
          </p:cNvSpPr>
          <p:nvPr>
            <p:ph sz="half" idx="15"/>
          </p:nvPr>
        </p:nvSpPr>
        <p:spPr>
          <a:xfrm>
            <a:off x="9132280" y="3667579"/>
            <a:ext cx="2245791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3949024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838200" y="2177143"/>
            <a:ext cx="4925785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68552"/>
            <a:ext cx="105156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6428015" y="2177143"/>
            <a:ext cx="4925785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1094480" y="2360275"/>
            <a:ext cx="42991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1094480" y="3367320"/>
            <a:ext cx="4299187" cy="320765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6682481" y="2360275"/>
            <a:ext cx="42991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6682481" y="3367320"/>
            <a:ext cx="4299187" cy="320765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6478009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838200" y="2177143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65488"/>
            <a:ext cx="105156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4606471" y="2177143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8374743" y="2177142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1028474" y="2180205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1028474" y="3167178"/>
            <a:ext cx="2600098" cy="340779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4794931" y="2180205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4794931" y="3167178"/>
            <a:ext cx="2600098" cy="340779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8561388" y="2177142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8561388" y="3164115"/>
            <a:ext cx="2600098" cy="340779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9313311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678542" y="2177143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65488"/>
            <a:ext cx="105156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3437617" y="2177143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6185879" y="2177142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868816" y="2287134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868816" y="3217976"/>
            <a:ext cx="2245791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3626077" y="2287134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3626077" y="3217976"/>
            <a:ext cx="2245791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6372524" y="2284071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6372524" y="3214913"/>
            <a:ext cx="2245791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8945635" y="2177142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Текст 2"/>
          <p:cNvSpPr>
            <a:spLocks noGrp="1"/>
          </p:cNvSpPr>
          <p:nvPr>
            <p:ph type="body" idx="14"/>
          </p:nvPr>
        </p:nvSpPr>
        <p:spPr>
          <a:xfrm>
            <a:off x="9132280" y="2284071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Объект 3"/>
          <p:cNvSpPr>
            <a:spLocks noGrp="1"/>
          </p:cNvSpPr>
          <p:nvPr>
            <p:ph sz="half" idx="15"/>
          </p:nvPr>
        </p:nvSpPr>
        <p:spPr>
          <a:xfrm>
            <a:off x="9132280" y="3214913"/>
            <a:ext cx="2245791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396130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24531" y="524933"/>
            <a:ext cx="3650668" cy="2051579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5360563" y="3037417"/>
            <a:ext cx="6831437" cy="32363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1122044" y="3037417"/>
            <a:ext cx="3873289" cy="32363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0" y="0"/>
            <a:ext cx="1693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Рисунок 6"/>
          <p:cNvSpPr>
            <a:spLocks noGrp="1"/>
          </p:cNvSpPr>
          <p:nvPr>
            <p:ph type="pic" sz="quarter" idx="15"/>
          </p:nvPr>
        </p:nvSpPr>
        <p:spPr>
          <a:xfrm>
            <a:off x="5360562" y="0"/>
            <a:ext cx="6831437" cy="2699657"/>
          </a:xfrm>
          <a:noFill/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774313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1" y="0"/>
            <a:ext cx="61976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бъект 2"/>
          <p:cNvSpPr>
            <a:spLocks noGrp="1"/>
          </p:cNvSpPr>
          <p:nvPr>
            <p:ph idx="1"/>
          </p:nvPr>
        </p:nvSpPr>
        <p:spPr>
          <a:xfrm>
            <a:off x="6634617" y="992187"/>
            <a:ext cx="4991326" cy="4873625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594180" y="696685"/>
            <a:ext cx="4907187" cy="5476647"/>
          </a:xfrm>
        </p:spPr>
        <p:txBody>
          <a:bodyPr/>
          <a:lstStyle/>
          <a:p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6473907" y="503916"/>
            <a:ext cx="520538" cy="5463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7407233" y="195032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0143176" y="6173333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63286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939800" y="1891051"/>
            <a:ext cx="2612571" cy="4136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65488"/>
            <a:ext cx="10409916" cy="1325563"/>
          </a:xfrm>
        </p:spPr>
        <p:txBody>
          <a:bodyPr/>
          <a:lstStyle>
            <a:lvl1pPr algn="r"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0"/>
          </p:nvPr>
        </p:nvSpPr>
        <p:spPr>
          <a:xfrm>
            <a:off x="1247775" y="2195849"/>
            <a:ext cx="2613025" cy="4106863"/>
          </a:xfrm>
        </p:spPr>
        <p:txBody>
          <a:bodyPr/>
          <a:lstStyle/>
          <a:p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4633685" y="1891051"/>
            <a:ext cx="2612571" cy="4136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21" name="Рисунок 3"/>
          <p:cNvSpPr>
            <a:spLocks noGrp="1"/>
          </p:cNvSpPr>
          <p:nvPr>
            <p:ph type="pic" sz="quarter" idx="11"/>
          </p:nvPr>
        </p:nvSpPr>
        <p:spPr>
          <a:xfrm>
            <a:off x="4941660" y="2195849"/>
            <a:ext cx="2613025" cy="4106863"/>
          </a:xfrm>
        </p:spPr>
        <p:txBody>
          <a:bodyPr/>
          <a:lstStyle/>
          <a:p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8327116" y="1929036"/>
            <a:ext cx="2612571" cy="4136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23" name="Рисунок 3"/>
          <p:cNvSpPr>
            <a:spLocks noGrp="1"/>
          </p:cNvSpPr>
          <p:nvPr>
            <p:ph type="pic" sz="quarter" idx="12"/>
          </p:nvPr>
        </p:nvSpPr>
        <p:spPr>
          <a:xfrm>
            <a:off x="8635091" y="2233834"/>
            <a:ext cx="2613025" cy="4106863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0067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2074" y="2548392"/>
            <a:ext cx="3207656" cy="160020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4049487" y="-4764"/>
            <a:ext cx="8142514" cy="42864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Рисунок 9"/>
          <p:cNvSpPr>
            <a:spLocks noGrp="1"/>
          </p:cNvSpPr>
          <p:nvPr>
            <p:ph type="pic" sz="quarter" idx="10"/>
          </p:nvPr>
        </p:nvSpPr>
        <p:spPr>
          <a:xfrm>
            <a:off x="4049487" y="4281488"/>
            <a:ext cx="8142513" cy="2576512"/>
          </a:xfrm>
        </p:spPr>
        <p:txBody>
          <a:bodyPr/>
          <a:lstStyle/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323217" y="457200"/>
            <a:ext cx="7375297" cy="334554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1168742" y="3119766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1470177" y="2597497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0119109" y="3629977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360009" y="2521179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57334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2074" y="1633770"/>
            <a:ext cx="3207656" cy="160020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4049487" y="-4764"/>
            <a:ext cx="8142514" cy="68627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1274054" y="5745962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1575489" y="5223693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0224421" y="6256173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327771" y="1389065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4630057" y="1016000"/>
            <a:ext cx="6643997" cy="472996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Диаграмма 4"/>
          <p:cNvSpPr>
            <a:spLocks noGrp="1"/>
          </p:cNvSpPr>
          <p:nvPr>
            <p:ph type="chart" sz="quarter" idx="11"/>
          </p:nvPr>
        </p:nvSpPr>
        <p:spPr>
          <a:xfrm>
            <a:off x="4746625" y="1146175"/>
            <a:ext cx="6421438" cy="4398963"/>
          </a:xfrm>
        </p:spPr>
        <p:txBody>
          <a:bodyPr/>
          <a:lstStyle/>
          <a:p>
            <a:endParaRPr lang="ru-RU"/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622074" y="3478675"/>
            <a:ext cx="3207656" cy="174501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3375852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5666" y="840014"/>
            <a:ext cx="6455648" cy="1131796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10638972" y="5545139"/>
            <a:ext cx="1553028" cy="132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474922" y="323744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Диаграмма 4"/>
          <p:cNvSpPr>
            <a:spLocks noGrp="1"/>
          </p:cNvSpPr>
          <p:nvPr>
            <p:ph type="chart" sz="quarter" idx="11"/>
          </p:nvPr>
        </p:nvSpPr>
        <p:spPr>
          <a:xfrm>
            <a:off x="975666" y="2278742"/>
            <a:ext cx="10110039" cy="2959465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2"/>
          </p:nvPr>
        </p:nvSpPr>
        <p:spPr>
          <a:xfrm>
            <a:off x="0" y="5545138"/>
            <a:ext cx="10609263" cy="1312862"/>
          </a:xfrm>
        </p:spPr>
        <p:txBody>
          <a:bodyPr/>
          <a:lstStyle/>
          <a:p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975666" y="0"/>
            <a:ext cx="446735" cy="4688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49374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24531" y="524933"/>
            <a:ext cx="3650668" cy="2051579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1337676" y="2993874"/>
            <a:ext cx="3618108" cy="2104571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0" y="2993874"/>
            <a:ext cx="1337676" cy="21045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Рисунок 6"/>
          <p:cNvSpPr>
            <a:spLocks noGrp="1"/>
          </p:cNvSpPr>
          <p:nvPr>
            <p:ph type="pic" sz="quarter" idx="15"/>
          </p:nvPr>
        </p:nvSpPr>
        <p:spPr>
          <a:xfrm>
            <a:off x="4955784" y="2993874"/>
            <a:ext cx="3618108" cy="2104571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6"/>
          <p:cNvSpPr>
            <a:spLocks noGrp="1"/>
          </p:cNvSpPr>
          <p:nvPr>
            <p:ph type="pic" sz="quarter" idx="16"/>
          </p:nvPr>
        </p:nvSpPr>
        <p:spPr>
          <a:xfrm>
            <a:off x="8573892" y="2993874"/>
            <a:ext cx="3618108" cy="2104571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13" name="Текст 2"/>
          <p:cNvSpPr>
            <a:spLocks noGrp="1"/>
          </p:cNvSpPr>
          <p:nvPr>
            <p:ph type="body" idx="1"/>
          </p:nvPr>
        </p:nvSpPr>
        <p:spPr>
          <a:xfrm>
            <a:off x="1775130" y="532693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idx="17"/>
          </p:nvPr>
        </p:nvSpPr>
        <p:spPr>
          <a:xfrm>
            <a:off x="5393238" y="532693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2"/>
          <p:cNvSpPr>
            <a:spLocks noGrp="1"/>
          </p:cNvSpPr>
          <p:nvPr>
            <p:ph type="body" idx="18"/>
          </p:nvPr>
        </p:nvSpPr>
        <p:spPr>
          <a:xfrm>
            <a:off x="9011346" y="532693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0972800" y="524932"/>
            <a:ext cx="462417" cy="4853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11587129" y="1117711"/>
            <a:ext cx="334834" cy="3514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/>
          <p:cNvSpPr/>
          <p:nvPr userDrawn="1"/>
        </p:nvSpPr>
        <p:spPr>
          <a:xfrm>
            <a:off x="1170259" y="5520313"/>
            <a:ext cx="334834" cy="3514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08440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1" y="1"/>
            <a:ext cx="728481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7284813" y="1"/>
            <a:ext cx="4907187" cy="2946400"/>
          </a:xfrm>
        </p:spPr>
        <p:txBody>
          <a:bodyPr/>
          <a:lstStyle/>
          <a:p>
            <a:endParaRPr lang="ru-RU"/>
          </a:p>
        </p:txBody>
      </p:sp>
      <p:sp>
        <p:nvSpPr>
          <p:cNvPr id="8" name="Рисунок 12"/>
          <p:cNvSpPr>
            <a:spLocks noGrp="1"/>
          </p:cNvSpPr>
          <p:nvPr>
            <p:ph type="pic" sz="quarter" idx="11"/>
          </p:nvPr>
        </p:nvSpPr>
        <p:spPr>
          <a:xfrm>
            <a:off x="7284812" y="2946401"/>
            <a:ext cx="4907187" cy="2452913"/>
          </a:xfrm>
        </p:spPr>
        <p:txBody>
          <a:bodyPr/>
          <a:lstStyle/>
          <a:p>
            <a:endParaRPr lang="ru-RU"/>
          </a:p>
        </p:txBody>
      </p:sp>
      <p:sp>
        <p:nvSpPr>
          <p:cNvPr id="12" name="Рисунок 12"/>
          <p:cNvSpPr>
            <a:spLocks noGrp="1"/>
          </p:cNvSpPr>
          <p:nvPr>
            <p:ph type="pic" sz="quarter" idx="12"/>
          </p:nvPr>
        </p:nvSpPr>
        <p:spPr>
          <a:xfrm>
            <a:off x="7284813" y="5399314"/>
            <a:ext cx="4907187" cy="1458686"/>
          </a:xfrm>
        </p:spPr>
        <p:txBody>
          <a:bodyPr/>
          <a:lstStyle/>
          <a:p>
            <a:endParaRPr lang="ru-RU"/>
          </a:p>
        </p:txBody>
      </p:sp>
      <p:sp>
        <p:nvSpPr>
          <p:cNvPr id="17" name="Объект 2"/>
          <p:cNvSpPr>
            <a:spLocks noGrp="1"/>
          </p:cNvSpPr>
          <p:nvPr>
            <p:ph idx="1"/>
          </p:nvPr>
        </p:nvSpPr>
        <p:spPr>
          <a:xfrm>
            <a:off x="596673" y="2061029"/>
            <a:ext cx="6079897" cy="4285797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3" y="560009"/>
            <a:ext cx="5552039" cy="120226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9" name="Прямоугольник 18"/>
          <p:cNvSpPr/>
          <p:nvPr userDrawn="1"/>
        </p:nvSpPr>
        <p:spPr>
          <a:xfrm rot="5400000">
            <a:off x="14680" y="5772209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 rot="5400000">
            <a:off x="857620" y="6057690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 rot="5400000">
            <a:off x="446550" y="4909127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8859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10914742" y="0"/>
            <a:ext cx="127725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0885488" cy="3468914"/>
          </a:xfrm>
        </p:spPr>
        <p:txBody>
          <a:bodyPr/>
          <a:lstStyle/>
          <a:p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1857828" y="3819676"/>
            <a:ext cx="653143" cy="6855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Текст 2"/>
          <p:cNvSpPr>
            <a:spLocks noGrp="1"/>
          </p:cNvSpPr>
          <p:nvPr>
            <p:ph type="body" idx="1"/>
          </p:nvPr>
        </p:nvSpPr>
        <p:spPr>
          <a:xfrm>
            <a:off x="812799" y="464476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3" name="Прямоугольник 22"/>
          <p:cNvSpPr/>
          <p:nvPr userDrawn="1"/>
        </p:nvSpPr>
        <p:spPr>
          <a:xfrm>
            <a:off x="5014684" y="3819676"/>
            <a:ext cx="653143" cy="6855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Текст 2"/>
          <p:cNvSpPr>
            <a:spLocks noGrp="1"/>
          </p:cNvSpPr>
          <p:nvPr>
            <p:ph type="body" idx="11"/>
          </p:nvPr>
        </p:nvSpPr>
        <p:spPr>
          <a:xfrm>
            <a:off x="3969655" y="464476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5" name="Прямоугольник 24"/>
          <p:cNvSpPr/>
          <p:nvPr userDrawn="1"/>
        </p:nvSpPr>
        <p:spPr>
          <a:xfrm>
            <a:off x="8171540" y="3819676"/>
            <a:ext cx="653143" cy="6855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Текст 2"/>
          <p:cNvSpPr>
            <a:spLocks noGrp="1"/>
          </p:cNvSpPr>
          <p:nvPr>
            <p:ph type="body" idx="12"/>
          </p:nvPr>
        </p:nvSpPr>
        <p:spPr>
          <a:xfrm>
            <a:off x="7126511" y="464476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8664103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10733" y="2815771"/>
            <a:ext cx="1874895" cy="311940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4" y="944010"/>
            <a:ext cx="4918756" cy="120226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" name="Прямоугольник 1"/>
          <p:cNvSpPr/>
          <p:nvPr userDrawn="1"/>
        </p:nvSpPr>
        <p:spPr>
          <a:xfrm>
            <a:off x="5788813" y="0"/>
            <a:ext cx="5733143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бъект 2"/>
          <p:cNvSpPr>
            <a:spLocks noGrp="1"/>
          </p:cNvSpPr>
          <p:nvPr>
            <p:ph idx="1"/>
          </p:nvPr>
        </p:nvSpPr>
        <p:spPr>
          <a:xfrm>
            <a:off x="6096001" y="560009"/>
            <a:ext cx="5016820" cy="5782734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5" name="Рисунок 12"/>
          <p:cNvSpPr>
            <a:spLocks noGrp="1"/>
          </p:cNvSpPr>
          <p:nvPr>
            <p:ph type="pic" sz="quarter" idx="11"/>
          </p:nvPr>
        </p:nvSpPr>
        <p:spPr>
          <a:xfrm>
            <a:off x="1903979" y="2815771"/>
            <a:ext cx="1986803" cy="311940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6" name="Рисунок 12"/>
          <p:cNvSpPr>
            <a:spLocks noGrp="1"/>
          </p:cNvSpPr>
          <p:nvPr>
            <p:ph type="pic" sz="quarter" idx="12"/>
          </p:nvPr>
        </p:nvSpPr>
        <p:spPr>
          <a:xfrm>
            <a:off x="3902350" y="2815771"/>
            <a:ext cx="1874895" cy="3119408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501709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5413829" y="0"/>
            <a:ext cx="6778171" cy="6857999"/>
          </a:xfrm>
        </p:spPr>
        <p:txBody>
          <a:bodyPr/>
          <a:lstStyle/>
          <a:p>
            <a:endParaRPr lang="ru-RU"/>
          </a:p>
        </p:txBody>
      </p:sp>
      <p:sp>
        <p:nvSpPr>
          <p:cNvPr id="11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107542" y="1156202"/>
            <a:ext cx="3483429" cy="2023549"/>
          </a:xfr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>
            <a:normAutofit/>
          </a:bodyPr>
          <a:lstStyle>
            <a:lvl1pPr algn="ctr">
              <a:lnSpc>
                <a:spcPct val="100000"/>
              </a:lnSpc>
              <a:defRPr sz="2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14" name="Заголовок 1"/>
          <p:cNvSpPr txBox="1">
            <a:spLocks/>
          </p:cNvSpPr>
          <p:nvPr userDrawn="1"/>
        </p:nvSpPr>
        <p:spPr>
          <a:xfrm>
            <a:off x="8122888" y="1156202"/>
            <a:ext cx="3483429" cy="2023549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lnSpc>
                <a:spcPct val="100000"/>
              </a:lnSpc>
            </a:pPr>
            <a:r>
              <a:rPr lang="ru-RU" sz="2400" dirty="0"/>
              <a:t>Образец </a:t>
            </a:r>
          </a:p>
          <a:p>
            <a:pPr>
              <a:lnSpc>
                <a:spcPct val="100000"/>
              </a:lnSpc>
            </a:pPr>
            <a:r>
              <a:rPr lang="ru-RU" sz="2400" dirty="0"/>
              <a:t>заголовка</a:t>
            </a:r>
          </a:p>
        </p:txBody>
      </p:sp>
      <p:sp>
        <p:nvSpPr>
          <p:cNvPr id="15" name="Заголовок 1"/>
          <p:cNvSpPr txBox="1">
            <a:spLocks/>
          </p:cNvSpPr>
          <p:nvPr userDrawn="1"/>
        </p:nvSpPr>
        <p:spPr>
          <a:xfrm>
            <a:off x="4107542" y="3776030"/>
            <a:ext cx="3483429" cy="2023549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lnSpc>
                <a:spcPct val="100000"/>
              </a:lnSpc>
            </a:pPr>
            <a:r>
              <a:rPr lang="ru-RU" sz="2400" dirty="0"/>
              <a:t>Образец </a:t>
            </a:r>
          </a:p>
          <a:p>
            <a:pPr>
              <a:lnSpc>
                <a:spcPct val="100000"/>
              </a:lnSpc>
            </a:pPr>
            <a:r>
              <a:rPr lang="ru-RU" sz="2400" dirty="0"/>
              <a:t>заголовка</a:t>
            </a:r>
          </a:p>
        </p:txBody>
      </p:sp>
      <p:sp>
        <p:nvSpPr>
          <p:cNvPr id="16" name="Заголовок 1"/>
          <p:cNvSpPr txBox="1">
            <a:spLocks/>
          </p:cNvSpPr>
          <p:nvPr userDrawn="1"/>
        </p:nvSpPr>
        <p:spPr>
          <a:xfrm>
            <a:off x="8122888" y="3776030"/>
            <a:ext cx="3483429" cy="2023549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lnSpc>
                <a:spcPct val="100000"/>
              </a:lnSpc>
            </a:pPr>
            <a:r>
              <a:rPr lang="ru-RU" sz="2400" dirty="0"/>
              <a:t>Образец </a:t>
            </a:r>
          </a:p>
          <a:p>
            <a:pPr>
              <a:lnSpc>
                <a:spcPct val="100000"/>
              </a:lnSpc>
            </a:pPr>
            <a:r>
              <a:rPr lang="ru-RU" sz="2400" dirty="0"/>
              <a:t>заголовка</a:t>
            </a:r>
          </a:p>
        </p:txBody>
      </p:sp>
      <p:sp>
        <p:nvSpPr>
          <p:cNvPr id="22" name="Заголовок 1"/>
          <p:cNvSpPr txBox="1">
            <a:spLocks/>
          </p:cNvSpPr>
          <p:nvPr userDrawn="1"/>
        </p:nvSpPr>
        <p:spPr>
          <a:xfrm>
            <a:off x="631045" y="2039934"/>
            <a:ext cx="3650668" cy="205157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32B824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dirty="0">
                <a:solidFill>
                  <a:schemeClr val="accent1"/>
                </a:solidFill>
              </a:rPr>
              <a:t>Образец заголовка</a:t>
            </a:r>
          </a:p>
        </p:txBody>
      </p:sp>
      <p:sp>
        <p:nvSpPr>
          <p:cNvPr id="23" name="Прямоугольник 22"/>
          <p:cNvSpPr/>
          <p:nvPr userDrawn="1"/>
        </p:nvSpPr>
        <p:spPr>
          <a:xfrm>
            <a:off x="2163105" y="6255898"/>
            <a:ext cx="573678" cy="6021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/>
          <p:cNvSpPr/>
          <p:nvPr userDrawn="1"/>
        </p:nvSpPr>
        <p:spPr>
          <a:xfrm>
            <a:off x="415453" y="5799579"/>
            <a:ext cx="369013" cy="387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 userDrawn="1"/>
        </p:nvSpPr>
        <p:spPr>
          <a:xfrm>
            <a:off x="1746595" y="638413"/>
            <a:ext cx="235300" cy="2469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526643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2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3" y="560009"/>
            <a:ext cx="10884127" cy="1202267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9" name="Прямоугольник 18"/>
          <p:cNvSpPr/>
          <p:nvPr userDrawn="1"/>
        </p:nvSpPr>
        <p:spPr>
          <a:xfrm rot="5400000">
            <a:off x="14680" y="5960896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 rot="5400000">
            <a:off x="857620" y="6057691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 rot="5400000">
            <a:off x="113295" y="466223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504140" y="2451380"/>
            <a:ext cx="1959430" cy="20565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Текст 2"/>
          <p:cNvSpPr>
            <a:spLocks noGrp="1"/>
          </p:cNvSpPr>
          <p:nvPr>
            <p:ph type="body" idx="1"/>
          </p:nvPr>
        </p:nvSpPr>
        <p:spPr>
          <a:xfrm>
            <a:off x="1112255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5168997" y="2451380"/>
            <a:ext cx="1959430" cy="20565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4777112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8833854" y="2451380"/>
            <a:ext cx="1959430" cy="20565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Текст 2"/>
          <p:cNvSpPr>
            <a:spLocks noGrp="1"/>
          </p:cNvSpPr>
          <p:nvPr>
            <p:ph type="body" idx="11"/>
          </p:nvPr>
        </p:nvSpPr>
        <p:spPr>
          <a:xfrm>
            <a:off x="8441969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Прямоугольник 23"/>
          <p:cNvSpPr/>
          <p:nvPr userDrawn="1"/>
        </p:nvSpPr>
        <p:spPr>
          <a:xfrm rot="5400000">
            <a:off x="10477113" y="-36940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 userDrawn="1"/>
        </p:nvSpPr>
        <p:spPr>
          <a:xfrm rot="5400000">
            <a:off x="11344112" y="747801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168911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2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3" y="560009"/>
            <a:ext cx="10884127" cy="1202267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9" name="Прямоугольник 18"/>
          <p:cNvSpPr/>
          <p:nvPr userDrawn="1"/>
        </p:nvSpPr>
        <p:spPr>
          <a:xfrm rot="5400000">
            <a:off x="14680" y="5960896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 rot="5400000">
            <a:off x="857620" y="6057691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 rot="5400000">
            <a:off x="113295" y="466223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Текст 2"/>
          <p:cNvSpPr>
            <a:spLocks noGrp="1"/>
          </p:cNvSpPr>
          <p:nvPr>
            <p:ph type="body" idx="1"/>
          </p:nvPr>
        </p:nvSpPr>
        <p:spPr>
          <a:xfrm>
            <a:off x="1112255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4777112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3" name="Текст 2"/>
          <p:cNvSpPr>
            <a:spLocks noGrp="1"/>
          </p:cNvSpPr>
          <p:nvPr>
            <p:ph type="body" idx="11"/>
          </p:nvPr>
        </p:nvSpPr>
        <p:spPr>
          <a:xfrm>
            <a:off x="8441969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Прямоугольник 23"/>
          <p:cNvSpPr/>
          <p:nvPr userDrawn="1"/>
        </p:nvSpPr>
        <p:spPr>
          <a:xfrm rot="5400000">
            <a:off x="10477113" y="-36940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 userDrawn="1"/>
        </p:nvSpPr>
        <p:spPr>
          <a:xfrm rot="5400000">
            <a:off x="11344112" y="747801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2"/>
          </p:nvPr>
        </p:nvSpPr>
        <p:spPr>
          <a:xfrm>
            <a:off x="1458330" y="2451100"/>
            <a:ext cx="2051050" cy="2057400"/>
          </a:xfrm>
        </p:spPr>
        <p:txBody>
          <a:bodyPr/>
          <a:lstStyle/>
          <a:p>
            <a:endParaRPr lang="ru-RU"/>
          </a:p>
        </p:txBody>
      </p:sp>
      <p:sp>
        <p:nvSpPr>
          <p:cNvPr id="17" name="Рисунок 2"/>
          <p:cNvSpPr>
            <a:spLocks noGrp="1"/>
          </p:cNvSpPr>
          <p:nvPr>
            <p:ph type="pic" sz="quarter" idx="13"/>
          </p:nvPr>
        </p:nvSpPr>
        <p:spPr>
          <a:xfrm>
            <a:off x="5123187" y="2451100"/>
            <a:ext cx="2051050" cy="2057400"/>
          </a:xfrm>
        </p:spPr>
        <p:txBody>
          <a:bodyPr/>
          <a:lstStyle/>
          <a:p>
            <a:endParaRPr lang="ru-RU"/>
          </a:p>
        </p:txBody>
      </p:sp>
      <p:sp>
        <p:nvSpPr>
          <p:cNvPr id="26" name="Рисунок 2"/>
          <p:cNvSpPr>
            <a:spLocks noGrp="1"/>
          </p:cNvSpPr>
          <p:nvPr>
            <p:ph type="pic" sz="quarter" idx="14"/>
          </p:nvPr>
        </p:nvSpPr>
        <p:spPr>
          <a:xfrm>
            <a:off x="8788044" y="2451100"/>
            <a:ext cx="2051050" cy="2057400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74813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/>
          <p:cNvSpPr/>
          <p:nvPr userDrawn="1"/>
        </p:nvSpPr>
        <p:spPr>
          <a:xfrm>
            <a:off x="8668543" y="2489162"/>
            <a:ext cx="2032001" cy="20538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5022735" y="2489162"/>
            <a:ext cx="2032001" cy="20538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1335314" y="2474647"/>
            <a:ext cx="2032001" cy="20538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3" y="734181"/>
            <a:ext cx="10884127" cy="1202267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idx="1"/>
          </p:nvPr>
        </p:nvSpPr>
        <p:spPr>
          <a:xfrm>
            <a:off x="1112255" y="481878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4777112" y="481878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3" name="Текст 2"/>
          <p:cNvSpPr>
            <a:spLocks noGrp="1"/>
          </p:cNvSpPr>
          <p:nvPr>
            <p:ph type="body" idx="11"/>
          </p:nvPr>
        </p:nvSpPr>
        <p:spPr>
          <a:xfrm>
            <a:off x="8441969" y="481878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2"/>
          </p:nvPr>
        </p:nvSpPr>
        <p:spPr>
          <a:xfrm>
            <a:off x="1458330" y="2625272"/>
            <a:ext cx="2051050" cy="2057400"/>
          </a:xfrm>
        </p:spPr>
        <p:txBody>
          <a:bodyPr/>
          <a:lstStyle/>
          <a:p>
            <a:endParaRPr lang="ru-RU"/>
          </a:p>
        </p:txBody>
      </p:sp>
      <p:sp>
        <p:nvSpPr>
          <p:cNvPr id="17" name="Рисунок 2"/>
          <p:cNvSpPr>
            <a:spLocks noGrp="1"/>
          </p:cNvSpPr>
          <p:nvPr>
            <p:ph type="pic" sz="quarter" idx="13"/>
          </p:nvPr>
        </p:nvSpPr>
        <p:spPr>
          <a:xfrm>
            <a:off x="5123187" y="2625272"/>
            <a:ext cx="2051050" cy="2057400"/>
          </a:xfrm>
        </p:spPr>
        <p:txBody>
          <a:bodyPr/>
          <a:lstStyle/>
          <a:p>
            <a:endParaRPr lang="ru-RU"/>
          </a:p>
        </p:txBody>
      </p:sp>
      <p:sp>
        <p:nvSpPr>
          <p:cNvPr id="26" name="Рисунок 2"/>
          <p:cNvSpPr>
            <a:spLocks noGrp="1"/>
          </p:cNvSpPr>
          <p:nvPr>
            <p:ph type="pic" sz="quarter" idx="14"/>
          </p:nvPr>
        </p:nvSpPr>
        <p:spPr>
          <a:xfrm>
            <a:off x="8788044" y="2625272"/>
            <a:ext cx="2051050" cy="2057400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67143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 userDrawn="1"/>
        </p:nvSpPr>
        <p:spPr>
          <a:xfrm>
            <a:off x="0" y="0"/>
            <a:ext cx="6110514" cy="34735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471763" y="1931068"/>
            <a:ext cx="5166988" cy="61007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Рисунок 2"/>
          <p:cNvSpPr>
            <a:spLocks noGrp="1"/>
          </p:cNvSpPr>
          <p:nvPr>
            <p:ph type="pic" sz="quarter" idx="13"/>
          </p:nvPr>
        </p:nvSpPr>
        <p:spPr>
          <a:xfrm>
            <a:off x="6110514" y="0"/>
            <a:ext cx="6081486" cy="3473599"/>
          </a:xfrm>
        </p:spPr>
        <p:txBody>
          <a:bodyPr/>
          <a:lstStyle/>
          <a:p>
            <a:endParaRPr lang="ru-RU"/>
          </a:p>
        </p:txBody>
      </p:sp>
      <p:sp>
        <p:nvSpPr>
          <p:cNvPr id="25" name="Рисунок 2"/>
          <p:cNvSpPr>
            <a:spLocks noGrp="1"/>
          </p:cNvSpPr>
          <p:nvPr>
            <p:ph type="pic" sz="quarter" idx="14"/>
          </p:nvPr>
        </p:nvSpPr>
        <p:spPr>
          <a:xfrm>
            <a:off x="0" y="3473599"/>
            <a:ext cx="6110514" cy="347359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Прямоугольник 27"/>
          <p:cNvSpPr/>
          <p:nvPr userDrawn="1"/>
        </p:nvSpPr>
        <p:spPr>
          <a:xfrm>
            <a:off x="6110514" y="3473599"/>
            <a:ext cx="6110514" cy="34735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Текст 2"/>
          <p:cNvSpPr>
            <a:spLocks noGrp="1"/>
          </p:cNvSpPr>
          <p:nvPr>
            <p:ph type="body" idx="15" hasCustomPrompt="1"/>
          </p:nvPr>
        </p:nvSpPr>
        <p:spPr>
          <a:xfrm>
            <a:off x="471763" y="998612"/>
            <a:ext cx="5166988" cy="73818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6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31" name="Текст 2"/>
          <p:cNvSpPr>
            <a:spLocks noGrp="1"/>
          </p:cNvSpPr>
          <p:nvPr>
            <p:ph type="body" idx="16"/>
          </p:nvPr>
        </p:nvSpPr>
        <p:spPr>
          <a:xfrm>
            <a:off x="6582277" y="5371590"/>
            <a:ext cx="5166988" cy="61007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2" name="Текст 2"/>
          <p:cNvSpPr>
            <a:spLocks noGrp="1"/>
          </p:cNvSpPr>
          <p:nvPr>
            <p:ph type="body" idx="17" hasCustomPrompt="1"/>
          </p:nvPr>
        </p:nvSpPr>
        <p:spPr>
          <a:xfrm>
            <a:off x="6582277" y="4439134"/>
            <a:ext cx="5166988" cy="73818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6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число</a:t>
            </a:r>
          </a:p>
        </p:txBody>
      </p:sp>
    </p:spTree>
    <p:extLst>
      <p:ext uri="{BB962C8B-B14F-4D97-AF65-F5344CB8AC3E}">
        <p14:creationId xmlns:p14="http://schemas.microsoft.com/office/powerpoint/2010/main" val="340747135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8915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393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8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1190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fld id="{F5179A5D-2E1E-4122-8255-844A0375AB5C}" type="datetimeFigureOut">
              <a:rPr lang="ru-RU" smtClean="0"/>
              <a:pPr/>
              <a:t>14.01.2026</a:t>
            </a:fld>
            <a:endParaRPr lang="ru-RU" dirty="0"/>
          </a:p>
        </p:txBody>
      </p:sp>
      <p:sp>
        <p:nvSpPr>
          <p:cNvPr id="9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904049" y="631190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476049" y="631190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2952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1" r:id="rId2"/>
    <p:sldLayoutId id="2147483660" r:id="rId3"/>
    <p:sldLayoutId id="2147483655" r:id="rId4"/>
    <p:sldLayoutId id="2147483651" r:id="rId5"/>
    <p:sldLayoutId id="2147483661" r:id="rId6"/>
    <p:sldLayoutId id="2147483654" r:id="rId7"/>
    <p:sldLayoutId id="2147483650" r:id="rId8"/>
    <p:sldLayoutId id="2147483679" r:id="rId9"/>
    <p:sldLayoutId id="2147483663" r:id="rId10"/>
    <p:sldLayoutId id="2147483652" r:id="rId11"/>
    <p:sldLayoutId id="2147483662" r:id="rId12"/>
    <p:sldLayoutId id="2147483664" r:id="rId13"/>
    <p:sldLayoutId id="2147483665" r:id="rId14"/>
    <p:sldLayoutId id="2147483666" r:id="rId15"/>
    <p:sldLayoutId id="2147483667" r:id="rId16"/>
    <p:sldLayoutId id="2147483653" r:id="rId17"/>
    <p:sldLayoutId id="2147483668" r:id="rId18"/>
    <p:sldLayoutId id="2147483656" r:id="rId19"/>
    <p:sldLayoutId id="2147483669" r:id="rId20"/>
    <p:sldLayoutId id="2147483674" r:id="rId21"/>
    <p:sldLayoutId id="2147483670" r:id="rId22"/>
    <p:sldLayoutId id="2147483671" r:id="rId23"/>
    <p:sldLayoutId id="2147483672" r:id="rId24"/>
    <p:sldLayoutId id="2147483673" r:id="rId25"/>
    <p:sldLayoutId id="2147483675" r:id="rId26"/>
    <p:sldLayoutId id="2147483676" r:id="rId27"/>
    <p:sldLayoutId id="2147483677" r:id="rId28"/>
    <p:sldLayoutId id="2147483678" r:id="rId29"/>
    <p:sldLayoutId id="2147483680" r:id="rId30"/>
    <p:sldLayoutId id="2147483657" r:id="rId3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sz="4000" dirty="0">
                <a:ea typeface="+mj-lt"/>
                <a:cs typeface="+mj-lt"/>
              </a:rPr>
              <a:t>ИНДИВИДУАЛЬНОЕ ЗАДАНИЕ </a:t>
            </a:r>
            <a:br>
              <a:rPr lang="ru-RU" sz="4000" dirty="0">
                <a:ea typeface="+mj-lt"/>
                <a:cs typeface="+mj-lt"/>
              </a:rPr>
            </a:br>
            <a:r>
              <a:rPr lang="ru-RU" sz="4000" dirty="0"/>
              <a:t>Вариант №7</a:t>
            </a:r>
            <a:br>
              <a:rPr lang="ru-RU" sz="4000" dirty="0"/>
            </a:br>
            <a:r>
              <a:rPr lang="ru-RU" sz="4000" dirty="0"/>
              <a:t>Программа "Квартиросъёмщик"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Смирнов Павел Андреевич, группа ИТ-10, 1 курс</a:t>
            </a:r>
          </a:p>
        </p:txBody>
      </p:sp>
    </p:spTree>
    <p:extLst>
      <p:ext uri="{BB962C8B-B14F-4D97-AF65-F5344CB8AC3E}">
        <p14:creationId xmlns:p14="http://schemas.microsoft.com/office/powerpoint/2010/main" val="2240160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Постановка задачи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3"/>
          </p:nvPr>
        </p:nvSpPr>
        <p:spPr>
          <a:xfrm>
            <a:off x="838200" y="1853164"/>
            <a:ext cx="10515600" cy="1107071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ru-RU" dirty="0">
                <a:ea typeface="+mn-lt"/>
                <a:cs typeface="+mn-lt"/>
              </a:rPr>
              <a:t>Создать файл записей, в котором хранится информация о квартиросъёмщиках:</a:t>
            </a:r>
          </a:p>
          <a:p>
            <a:pPr marL="514350" indent="-514350">
              <a:lnSpc>
                <a:spcPct val="120000"/>
              </a:lnSpc>
              <a:buAutoNum type="arabicPeriod"/>
            </a:pPr>
            <a:endParaRPr lang="ru-RU" dirty="0"/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B6170E97-B923-CFA1-719B-859A9CA2D02C}"/>
              </a:ext>
            </a:extLst>
          </p:cNvPr>
          <p:cNvGrpSpPr/>
          <p:nvPr/>
        </p:nvGrpSpPr>
        <p:grpSpPr>
          <a:xfrm>
            <a:off x="1647701" y="3159330"/>
            <a:ext cx="5258952" cy="1247336"/>
            <a:chOff x="840344" y="3159330"/>
            <a:chExt cx="5258952" cy="1247336"/>
          </a:xfrm>
        </p:grpSpPr>
        <p:sp>
          <p:nvSpPr>
            <p:cNvPr id="7" name="Прямоугольник: скругленные углы 6">
              <a:extLst>
                <a:ext uri="{FF2B5EF4-FFF2-40B4-BE49-F238E27FC236}">
                  <a16:creationId xmlns:a16="http://schemas.microsoft.com/office/drawing/2014/main" id="{F0C98A4E-5AFA-F053-1075-0D6AF3440906}"/>
                </a:ext>
              </a:extLst>
            </p:cNvPr>
            <p:cNvSpPr/>
            <p:nvPr/>
          </p:nvSpPr>
          <p:spPr>
            <a:xfrm>
              <a:off x="840344" y="3159330"/>
              <a:ext cx="3631870" cy="1246909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069FE17-9141-5515-6F07-21966219A48E}"/>
                </a:ext>
              </a:extLst>
            </p:cNvPr>
            <p:cNvSpPr txBox="1"/>
            <p:nvPr/>
          </p:nvSpPr>
          <p:spPr>
            <a:xfrm>
              <a:off x="1436583" y="3206337"/>
              <a:ext cx="4662713" cy="1200329"/>
            </a:xfrm>
            <a:prstGeom prst="rect">
              <a:avLst/>
            </a:prstGeom>
            <a:noFill/>
            <a:ln>
              <a:noFill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342900" indent="-342900" algn="l">
                <a:buAutoNum type="arabicPeriod"/>
              </a:pPr>
              <a:r>
                <a:rPr lang="ru-RU" sz="2400" dirty="0">
                  <a:solidFill>
                    <a:srgbClr val="FFFFFF"/>
                  </a:solidFill>
                </a:rPr>
                <a:t>Фамилия</a:t>
              </a:r>
            </a:p>
            <a:p>
              <a:pPr marL="342900" indent="-342900">
                <a:buAutoNum type="arabicPeriod"/>
              </a:pPr>
              <a:r>
                <a:rPr lang="ru-RU" sz="2400" dirty="0">
                  <a:solidFill>
                    <a:srgbClr val="FFFFFF"/>
                  </a:solidFill>
                </a:rPr>
                <a:t>Имя</a:t>
              </a:r>
            </a:p>
            <a:p>
              <a:pPr marL="342900" indent="-342900">
                <a:buAutoNum type="arabicPeriod"/>
              </a:pPr>
              <a:r>
                <a:rPr lang="ru-RU" sz="2400" dirty="0">
                  <a:solidFill>
                    <a:srgbClr val="FFFFFF"/>
                  </a:solidFill>
                </a:rPr>
                <a:t>Отчество</a:t>
              </a:r>
            </a:p>
          </p:txBody>
        </p:sp>
      </p:grp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E7E5B326-C467-AD95-95D5-359135BF560F}"/>
              </a:ext>
            </a:extLst>
          </p:cNvPr>
          <p:cNvGrpSpPr/>
          <p:nvPr/>
        </p:nvGrpSpPr>
        <p:grpSpPr>
          <a:xfrm>
            <a:off x="6900057" y="3159329"/>
            <a:ext cx="5001656" cy="1246909"/>
            <a:chOff x="5747986" y="3159329"/>
            <a:chExt cx="5001656" cy="1246909"/>
          </a:xfrm>
        </p:grpSpPr>
        <p:sp>
          <p:nvSpPr>
            <p:cNvPr id="8" name="Прямоугольник: скругленные углы 7">
              <a:extLst>
                <a:ext uri="{FF2B5EF4-FFF2-40B4-BE49-F238E27FC236}">
                  <a16:creationId xmlns:a16="http://schemas.microsoft.com/office/drawing/2014/main" id="{AE6C658D-82B5-D41B-174D-69081F3059EA}"/>
                </a:ext>
              </a:extLst>
            </p:cNvPr>
            <p:cNvSpPr/>
            <p:nvPr/>
          </p:nvSpPr>
          <p:spPr>
            <a:xfrm>
              <a:off x="5747986" y="3159329"/>
              <a:ext cx="3631870" cy="1246909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6CDD317-8410-4BED-7279-9709BCCA3A6B}"/>
                </a:ext>
              </a:extLst>
            </p:cNvPr>
            <p:cNvSpPr txBox="1"/>
            <p:nvPr/>
          </p:nvSpPr>
          <p:spPr>
            <a:xfrm>
              <a:off x="6088578" y="3204688"/>
              <a:ext cx="4661064" cy="120032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ru-RU" sz="2400" dirty="0">
                  <a:solidFill>
                    <a:srgbClr val="FFFFFF"/>
                  </a:solidFill>
                </a:rPr>
                <a:t>4. Название улицы</a:t>
              </a:r>
            </a:p>
            <a:p>
              <a:r>
                <a:rPr lang="ru-RU" sz="2400" dirty="0">
                  <a:solidFill>
                    <a:srgbClr val="FFFFFF"/>
                  </a:solidFill>
                </a:rPr>
                <a:t>5. Номер дома</a:t>
              </a:r>
            </a:p>
            <a:p>
              <a:r>
                <a:rPr lang="ru-RU" sz="2400" dirty="0">
                  <a:solidFill>
                    <a:srgbClr val="FFFFFF"/>
                  </a:solidFill>
                </a:rPr>
                <a:t>6. Номер квартиры</a:t>
              </a:r>
            </a:p>
          </p:txBody>
        </p:sp>
      </p:grp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D828F3AF-0503-4D19-1508-021CB44E2082}"/>
              </a:ext>
            </a:extLst>
          </p:cNvPr>
          <p:cNvGrpSpPr/>
          <p:nvPr/>
        </p:nvGrpSpPr>
        <p:grpSpPr>
          <a:xfrm>
            <a:off x="3071914" y="4746830"/>
            <a:ext cx="6066309" cy="1940642"/>
            <a:chOff x="3171700" y="4411187"/>
            <a:chExt cx="6066309" cy="1940642"/>
          </a:xfrm>
        </p:grpSpPr>
        <p:sp>
          <p:nvSpPr>
            <p:cNvPr id="9" name="Прямоугольник: скругленные углы 8">
              <a:extLst>
                <a:ext uri="{FF2B5EF4-FFF2-40B4-BE49-F238E27FC236}">
                  <a16:creationId xmlns:a16="http://schemas.microsoft.com/office/drawing/2014/main" id="{97127BFA-4B67-79ED-511D-0EC4203DC0DB}"/>
                </a:ext>
              </a:extLst>
            </p:cNvPr>
            <p:cNvSpPr/>
            <p:nvPr/>
          </p:nvSpPr>
          <p:spPr>
            <a:xfrm>
              <a:off x="3171700" y="4411187"/>
              <a:ext cx="5854370" cy="1936337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612F767-2AE1-9B47-48AC-B5F66E024AB4}"/>
                </a:ext>
              </a:extLst>
            </p:cNvPr>
            <p:cNvSpPr txBox="1"/>
            <p:nvPr/>
          </p:nvSpPr>
          <p:spPr>
            <a:xfrm>
              <a:off x="3386939" y="4412837"/>
              <a:ext cx="5851070" cy="193899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ru-RU" sz="2400" dirty="0">
                  <a:solidFill>
                    <a:srgbClr val="FFFFFF"/>
                  </a:solidFill>
                </a:rPr>
                <a:t>7. Этаж</a:t>
              </a:r>
            </a:p>
            <a:p>
              <a:r>
                <a:rPr lang="ru-RU" sz="2400" dirty="0">
                  <a:solidFill>
                    <a:srgbClr val="FFFFFF"/>
                  </a:solidFill>
                </a:rPr>
                <a:t>8. Общая площадь</a:t>
              </a:r>
            </a:p>
            <a:p>
              <a:r>
                <a:rPr lang="ru-RU" sz="2400" dirty="0">
                  <a:solidFill>
                    <a:srgbClr val="FFFFFF"/>
                  </a:solidFill>
                </a:rPr>
                <a:t>9. Жилая площадь</a:t>
              </a:r>
            </a:p>
            <a:p>
              <a:r>
                <a:rPr lang="ru-RU" sz="2400" dirty="0">
                  <a:solidFill>
                    <a:srgbClr val="FFFFFF"/>
                  </a:solidFill>
                </a:rPr>
                <a:t>10. Количество прописанных человек</a:t>
              </a:r>
            </a:p>
            <a:p>
              <a:r>
                <a:rPr lang="ru-RU" sz="2400" dirty="0">
                  <a:solidFill>
                    <a:srgbClr val="FFFFFF"/>
                  </a:solidFill>
                </a:rPr>
                <a:t>11. Наличие льготы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21713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6C296-2F66-F72C-543A-F5CD4D677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2DDBD9-8E48-912D-D84F-693338452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Постановка задачи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2DDB3A2-BE10-812F-7802-6A4AA44DE0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717092"/>
            <a:ext cx="10515600" cy="160599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ru-RU" dirty="0">
                <a:ea typeface="+mn-lt"/>
                <a:cs typeface="+mn-lt"/>
              </a:rPr>
              <a:t>Разработать и реализовать программу "Квартиросъёмщик", которая считывает исходную информацию и позволяет на основе неё создавать следующие отчёты:</a:t>
            </a:r>
          </a:p>
          <a:p>
            <a:pPr marL="514350" indent="-514350">
              <a:lnSpc>
                <a:spcPct val="120000"/>
              </a:lnSpc>
              <a:buAutoNum type="arabicPeriod"/>
            </a:pPr>
            <a:endParaRPr lang="ru-RU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E266E6-5EAF-1771-D6E2-9A96D1137209}"/>
              </a:ext>
            </a:extLst>
          </p:cNvPr>
          <p:cNvSpPr txBox="1"/>
          <p:nvPr/>
        </p:nvSpPr>
        <p:spPr>
          <a:xfrm>
            <a:off x="761999" y="3503221"/>
            <a:ext cx="10608623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ru-RU" sz="2400" dirty="0">
                <a:ea typeface="+mn-lt"/>
                <a:cs typeface="+mn-lt"/>
              </a:rPr>
              <a:t>Полный список всех квартиросъёмщиков, который будет отсортирован следующему ключу: </a:t>
            </a:r>
          </a:p>
          <a:p>
            <a:pPr lvl="1"/>
            <a:r>
              <a:rPr lang="ru-RU" sz="2400" dirty="0">
                <a:ea typeface="+mn-lt"/>
                <a:cs typeface="+mn-lt"/>
              </a:rPr>
              <a:t>  </a:t>
            </a:r>
          </a:p>
          <a:p>
            <a:pPr lvl="1"/>
            <a:r>
              <a:rPr lang="ru-RU" sz="2400" dirty="0">
                <a:ea typeface="+mn-lt"/>
                <a:cs typeface="+mn-lt"/>
              </a:rPr>
              <a:t>  количество прописанных человек (по убыванию)</a:t>
            </a:r>
          </a:p>
          <a:p>
            <a:pPr lvl="1"/>
            <a:endParaRPr lang="ru-RU" sz="2400" dirty="0">
              <a:ea typeface="+mn-lt"/>
              <a:cs typeface="+mn-lt"/>
            </a:endParaRPr>
          </a:p>
          <a:p>
            <a:pPr lvl="1"/>
            <a:r>
              <a:rPr lang="ru-RU" sz="2400" dirty="0">
                <a:ea typeface="+mn-lt"/>
                <a:cs typeface="+mn-lt"/>
              </a:rPr>
              <a:t>  адрес (по возрастанию).</a:t>
            </a:r>
            <a:endParaRPr lang="ru-RU" sz="2400"/>
          </a:p>
        </p:txBody>
      </p:sp>
      <p:sp>
        <p:nvSpPr>
          <p:cNvPr id="15" name="Shape 2896">
            <a:extLst>
              <a:ext uri="{FF2B5EF4-FFF2-40B4-BE49-F238E27FC236}">
                <a16:creationId xmlns:a16="http://schemas.microsoft.com/office/drawing/2014/main" id="{22B6DA1B-7A7B-E7FB-E25C-F629D5637E50}"/>
              </a:ext>
            </a:extLst>
          </p:cNvPr>
          <p:cNvSpPr/>
          <p:nvPr/>
        </p:nvSpPr>
        <p:spPr>
          <a:xfrm>
            <a:off x="1526989" y="5430011"/>
            <a:ext cx="212236" cy="4879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2" y="5053"/>
                </a:moveTo>
                <a:lnTo>
                  <a:pt x="11494" y="144"/>
                </a:lnTo>
                <a:cubicBezTo>
                  <a:pt x="11316" y="55"/>
                  <a:pt x="11071" y="0"/>
                  <a:pt x="10800" y="0"/>
                </a:cubicBezTo>
                <a:cubicBezTo>
                  <a:pt x="10529" y="0"/>
                  <a:pt x="10284" y="55"/>
                  <a:pt x="10106" y="144"/>
                </a:cubicBezTo>
                <a:lnTo>
                  <a:pt x="288" y="5053"/>
                </a:lnTo>
                <a:cubicBezTo>
                  <a:pt x="110" y="5142"/>
                  <a:pt x="0" y="5264"/>
                  <a:pt x="0" y="5400"/>
                </a:cubicBezTo>
                <a:cubicBezTo>
                  <a:pt x="0" y="5671"/>
                  <a:pt x="440" y="5891"/>
                  <a:pt x="982" y="5891"/>
                </a:cubicBezTo>
                <a:cubicBezTo>
                  <a:pt x="1253" y="5891"/>
                  <a:pt x="1498" y="5836"/>
                  <a:pt x="1676" y="5747"/>
                </a:cubicBezTo>
                <a:lnTo>
                  <a:pt x="9818" y="1676"/>
                </a:lnTo>
                <a:lnTo>
                  <a:pt x="9818" y="21109"/>
                </a:lnTo>
                <a:cubicBezTo>
                  <a:pt x="9818" y="21380"/>
                  <a:pt x="10258" y="21600"/>
                  <a:pt x="10800" y="21600"/>
                </a:cubicBezTo>
                <a:cubicBezTo>
                  <a:pt x="11342" y="21600"/>
                  <a:pt x="11782" y="21380"/>
                  <a:pt x="11782" y="21109"/>
                </a:cubicBezTo>
                <a:lnTo>
                  <a:pt x="11782" y="1676"/>
                </a:lnTo>
                <a:lnTo>
                  <a:pt x="19924" y="5747"/>
                </a:lnTo>
                <a:cubicBezTo>
                  <a:pt x="20102" y="5836"/>
                  <a:pt x="20347" y="5891"/>
                  <a:pt x="20618" y="5891"/>
                </a:cubicBezTo>
                <a:cubicBezTo>
                  <a:pt x="21160" y="5891"/>
                  <a:pt x="21600" y="5671"/>
                  <a:pt x="21600" y="5400"/>
                </a:cubicBezTo>
                <a:cubicBezTo>
                  <a:pt x="21600" y="5264"/>
                  <a:pt x="21490" y="5142"/>
                  <a:pt x="21312" y="505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8" name="Shape 2896">
            <a:extLst>
              <a:ext uri="{FF2B5EF4-FFF2-40B4-BE49-F238E27FC236}">
                <a16:creationId xmlns:a16="http://schemas.microsoft.com/office/drawing/2014/main" id="{FD052393-E5B2-8D47-CFD6-6E90EEEA81BA}"/>
              </a:ext>
            </a:extLst>
          </p:cNvPr>
          <p:cNvSpPr/>
          <p:nvPr/>
        </p:nvSpPr>
        <p:spPr>
          <a:xfrm flipV="1">
            <a:off x="1526988" y="4575409"/>
            <a:ext cx="212236" cy="5643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2" y="5053"/>
                </a:moveTo>
                <a:lnTo>
                  <a:pt x="11494" y="144"/>
                </a:lnTo>
                <a:cubicBezTo>
                  <a:pt x="11316" y="55"/>
                  <a:pt x="11071" y="0"/>
                  <a:pt x="10800" y="0"/>
                </a:cubicBezTo>
                <a:cubicBezTo>
                  <a:pt x="10529" y="0"/>
                  <a:pt x="10284" y="55"/>
                  <a:pt x="10106" y="144"/>
                </a:cubicBezTo>
                <a:lnTo>
                  <a:pt x="288" y="5053"/>
                </a:lnTo>
                <a:cubicBezTo>
                  <a:pt x="110" y="5142"/>
                  <a:pt x="0" y="5264"/>
                  <a:pt x="0" y="5400"/>
                </a:cubicBezTo>
                <a:cubicBezTo>
                  <a:pt x="0" y="5671"/>
                  <a:pt x="440" y="5891"/>
                  <a:pt x="982" y="5891"/>
                </a:cubicBezTo>
                <a:cubicBezTo>
                  <a:pt x="1253" y="5891"/>
                  <a:pt x="1498" y="5836"/>
                  <a:pt x="1676" y="5747"/>
                </a:cubicBezTo>
                <a:lnTo>
                  <a:pt x="9818" y="1676"/>
                </a:lnTo>
                <a:lnTo>
                  <a:pt x="9818" y="21109"/>
                </a:lnTo>
                <a:cubicBezTo>
                  <a:pt x="9818" y="21380"/>
                  <a:pt x="10258" y="21600"/>
                  <a:pt x="10800" y="21600"/>
                </a:cubicBezTo>
                <a:cubicBezTo>
                  <a:pt x="11342" y="21600"/>
                  <a:pt x="11782" y="21380"/>
                  <a:pt x="11782" y="21109"/>
                </a:cubicBezTo>
                <a:lnTo>
                  <a:pt x="11782" y="1676"/>
                </a:lnTo>
                <a:lnTo>
                  <a:pt x="19924" y="5747"/>
                </a:lnTo>
                <a:cubicBezTo>
                  <a:pt x="20102" y="5836"/>
                  <a:pt x="20347" y="5891"/>
                  <a:pt x="20618" y="5891"/>
                </a:cubicBezTo>
                <a:cubicBezTo>
                  <a:pt x="21160" y="5891"/>
                  <a:pt x="21600" y="5671"/>
                  <a:pt x="21600" y="5400"/>
                </a:cubicBezTo>
                <a:cubicBezTo>
                  <a:pt x="21600" y="5264"/>
                  <a:pt x="21490" y="5142"/>
                  <a:pt x="21312" y="505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4193262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187ED-1C51-B872-6A83-35EB9176A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7CA442-2030-C426-75C8-CF4A1A83D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Постановка задачи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312AFA-764B-A09E-5EC7-BCE9EBA57707}"/>
              </a:ext>
            </a:extLst>
          </p:cNvPr>
          <p:cNvSpPr txBox="1"/>
          <p:nvPr/>
        </p:nvSpPr>
        <p:spPr>
          <a:xfrm>
            <a:off x="834570" y="1979221"/>
            <a:ext cx="10608623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2400" dirty="0">
                <a:ea typeface="+mn-lt"/>
                <a:cs typeface="+mn-lt"/>
              </a:rPr>
              <a:t>2.  Список всех квартиросъёмщиков, имеющих льготы, отсортированный по следующему ключу: </a:t>
            </a:r>
            <a:endParaRPr lang="ru-RU" dirty="0">
              <a:ea typeface="+mn-lt"/>
              <a:cs typeface="+mn-lt"/>
            </a:endParaRPr>
          </a:p>
          <a:p>
            <a:pPr marL="342900" indent="-342900">
              <a:buAutoNum type="arabicPeriod"/>
            </a:pPr>
            <a:endParaRPr lang="ru-RU" sz="2400" dirty="0">
              <a:ea typeface="+mn-lt"/>
              <a:cs typeface="+mn-lt"/>
            </a:endParaRPr>
          </a:p>
          <a:p>
            <a:pPr marL="342900" indent="-342900">
              <a:buAutoNum type="arabicPeriod"/>
            </a:pPr>
            <a:endParaRPr lang="ru-RU" sz="2400" dirty="0">
              <a:ea typeface="+mn-lt"/>
              <a:cs typeface="+mn-lt"/>
            </a:endParaRPr>
          </a:p>
          <a:p>
            <a:r>
              <a:rPr lang="ru-RU" sz="2400" dirty="0">
                <a:ea typeface="+mn-lt"/>
                <a:cs typeface="+mn-lt"/>
              </a:rPr>
              <a:t>   этаж (по возрастанию)</a:t>
            </a:r>
            <a:endParaRPr lang="ru-RU" dirty="0">
              <a:ea typeface="+mn-lt"/>
              <a:cs typeface="+mn-lt"/>
            </a:endParaRPr>
          </a:p>
          <a:p>
            <a:endParaRPr lang="ru-RU" sz="2400" dirty="0">
              <a:ea typeface="+mn-lt"/>
              <a:cs typeface="+mn-lt"/>
            </a:endParaRPr>
          </a:p>
          <a:p>
            <a:r>
              <a:rPr lang="ru-RU" sz="2400" dirty="0">
                <a:ea typeface="+mn-lt"/>
                <a:cs typeface="+mn-lt"/>
              </a:rPr>
              <a:t>   </a:t>
            </a:r>
            <a:endParaRPr lang="ru-RU" dirty="0">
              <a:ea typeface="+mn-lt"/>
              <a:cs typeface="+mn-lt"/>
            </a:endParaRPr>
          </a:p>
          <a:p>
            <a:r>
              <a:rPr lang="ru-RU" sz="2400" dirty="0">
                <a:ea typeface="+mn-lt"/>
                <a:cs typeface="+mn-lt"/>
              </a:rPr>
              <a:t>   количество прописанных человек (по убыванию)</a:t>
            </a:r>
            <a:endParaRPr lang="ru-RU" dirty="0">
              <a:ea typeface="+mn-lt"/>
              <a:cs typeface="+mn-lt"/>
            </a:endParaRPr>
          </a:p>
          <a:p>
            <a:endParaRPr lang="ru-RU" sz="2400" dirty="0">
              <a:ea typeface="+mn-lt"/>
              <a:cs typeface="+mn-lt"/>
            </a:endParaRPr>
          </a:p>
          <a:p>
            <a:r>
              <a:rPr lang="ru-RU" sz="2400" dirty="0">
                <a:ea typeface="+mn-lt"/>
                <a:cs typeface="+mn-lt"/>
              </a:rPr>
              <a:t>   </a:t>
            </a:r>
            <a:endParaRPr lang="ru-RU" dirty="0">
              <a:ea typeface="+mn-lt"/>
              <a:cs typeface="+mn-lt"/>
            </a:endParaRPr>
          </a:p>
          <a:p>
            <a:r>
              <a:rPr lang="ru-RU" sz="2400" dirty="0">
                <a:ea typeface="+mn-lt"/>
                <a:cs typeface="+mn-lt"/>
              </a:rPr>
              <a:t>   общая площадь (по возрастанию). </a:t>
            </a:r>
            <a:endParaRPr lang="ru-RU" dirty="0"/>
          </a:p>
        </p:txBody>
      </p:sp>
      <p:sp>
        <p:nvSpPr>
          <p:cNvPr id="15" name="Shape 2896">
            <a:extLst>
              <a:ext uri="{FF2B5EF4-FFF2-40B4-BE49-F238E27FC236}">
                <a16:creationId xmlns:a16="http://schemas.microsoft.com/office/drawing/2014/main" id="{4178D931-8DED-E0F9-8EF2-AD5AE7283230}"/>
              </a:ext>
            </a:extLst>
          </p:cNvPr>
          <p:cNvSpPr/>
          <p:nvPr/>
        </p:nvSpPr>
        <p:spPr>
          <a:xfrm>
            <a:off x="1526989" y="3429349"/>
            <a:ext cx="212236" cy="4879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2" y="5053"/>
                </a:moveTo>
                <a:lnTo>
                  <a:pt x="11494" y="144"/>
                </a:lnTo>
                <a:cubicBezTo>
                  <a:pt x="11316" y="55"/>
                  <a:pt x="11071" y="0"/>
                  <a:pt x="10800" y="0"/>
                </a:cubicBezTo>
                <a:cubicBezTo>
                  <a:pt x="10529" y="0"/>
                  <a:pt x="10284" y="55"/>
                  <a:pt x="10106" y="144"/>
                </a:cubicBezTo>
                <a:lnTo>
                  <a:pt x="288" y="5053"/>
                </a:lnTo>
                <a:cubicBezTo>
                  <a:pt x="110" y="5142"/>
                  <a:pt x="0" y="5264"/>
                  <a:pt x="0" y="5400"/>
                </a:cubicBezTo>
                <a:cubicBezTo>
                  <a:pt x="0" y="5671"/>
                  <a:pt x="440" y="5891"/>
                  <a:pt x="982" y="5891"/>
                </a:cubicBezTo>
                <a:cubicBezTo>
                  <a:pt x="1253" y="5891"/>
                  <a:pt x="1498" y="5836"/>
                  <a:pt x="1676" y="5747"/>
                </a:cubicBezTo>
                <a:lnTo>
                  <a:pt x="9818" y="1676"/>
                </a:lnTo>
                <a:lnTo>
                  <a:pt x="9818" y="21109"/>
                </a:lnTo>
                <a:cubicBezTo>
                  <a:pt x="9818" y="21380"/>
                  <a:pt x="10258" y="21600"/>
                  <a:pt x="10800" y="21600"/>
                </a:cubicBezTo>
                <a:cubicBezTo>
                  <a:pt x="11342" y="21600"/>
                  <a:pt x="11782" y="21380"/>
                  <a:pt x="11782" y="21109"/>
                </a:cubicBezTo>
                <a:lnTo>
                  <a:pt x="11782" y="1676"/>
                </a:lnTo>
                <a:lnTo>
                  <a:pt x="19924" y="5747"/>
                </a:lnTo>
                <a:cubicBezTo>
                  <a:pt x="20102" y="5836"/>
                  <a:pt x="20347" y="5891"/>
                  <a:pt x="20618" y="5891"/>
                </a:cubicBezTo>
                <a:cubicBezTo>
                  <a:pt x="21160" y="5891"/>
                  <a:pt x="21600" y="5671"/>
                  <a:pt x="21600" y="5400"/>
                </a:cubicBezTo>
                <a:cubicBezTo>
                  <a:pt x="21600" y="5264"/>
                  <a:pt x="21490" y="5142"/>
                  <a:pt x="21312" y="505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8" name="Shape 2896">
            <a:extLst>
              <a:ext uri="{FF2B5EF4-FFF2-40B4-BE49-F238E27FC236}">
                <a16:creationId xmlns:a16="http://schemas.microsoft.com/office/drawing/2014/main" id="{7BA6686E-15FD-0857-9E10-7C639C1032EA}"/>
              </a:ext>
            </a:extLst>
          </p:cNvPr>
          <p:cNvSpPr/>
          <p:nvPr/>
        </p:nvSpPr>
        <p:spPr>
          <a:xfrm flipV="1">
            <a:off x="1526988" y="4520980"/>
            <a:ext cx="212236" cy="5643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2" y="5053"/>
                </a:moveTo>
                <a:lnTo>
                  <a:pt x="11494" y="144"/>
                </a:lnTo>
                <a:cubicBezTo>
                  <a:pt x="11316" y="55"/>
                  <a:pt x="11071" y="0"/>
                  <a:pt x="10800" y="0"/>
                </a:cubicBezTo>
                <a:cubicBezTo>
                  <a:pt x="10529" y="0"/>
                  <a:pt x="10284" y="55"/>
                  <a:pt x="10106" y="144"/>
                </a:cubicBezTo>
                <a:lnTo>
                  <a:pt x="288" y="5053"/>
                </a:lnTo>
                <a:cubicBezTo>
                  <a:pt x="110" y="5142"/>
                  <a:pt x="0" y="5264"/>
                  <a:pt x="0" y="5400"/>
                </a:cubicBezTo>
                <a:cubicBezTo>
                  <a:pt x="0" y="5671"/>
                  <a:pt x="440" y="5891"/>
                  <a:pt x="982" y="5891"/>
                </a:cubicBezTo>
                <a:cubicBezTo>
                  <a:pt x="1253" y="5891"/>
                  <a:pt x="1498" y="5836"/>
                  <a:pt x="1676" y="5747"/>
                </a:cubicBezTo>
                <a:lnTo>
                  <a:pt x="9818" y="1676"/>
                </a:lnTo>
                <a:lnTo>
                  <a:pt x="9818" y="21109"/>
                </a:lnTo>
                <a:cubicBezTo>
                  <a:pt x="9818" y="21380"/>
                  <a:pt x="10258" y="21600"/>
                  <a:pt x="10800" y="21600"/>
                </a:cubicBezTo>
                <a:cubicBezTo>
                  <a:pt x="11342" y="21600"/>
                  <a:pt x="11782" y="21380"/>
                  <a:pt x="11782" y="21109"/>
                </a:cubicBezTo>
                <a:lnTo>
                  <a:pt x="11782" y="1676"/>
                </a:lnTo>
                <a:lnTo>
                  <a:pt x="19924" y="5747"/>
                </a:lnTo>
                <a:cubicBezTo>
                  <a:pt x="20102" y="5836"/>
                  <a:pt x="20347" y="5891"/>
                  <a:pt x="20618" y="5891"/>
                </a:cubicBezTo>
                <a:cubicBezTo>
                  <a:pt x="21160" y="5891"/>
                  <a:pt x="21600" y="5671"/>
                  <a:pt x="21600" y="5400"/>
                </a:cubicBezTo>
                <a:cubicBezTo>
                  <a:pt x="21600" y="5264"/>
                  <a:pt x="21490" y="5142"/>
                  <a:pt x="21312" y="505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3" name="Shape 2896">
            <a:extLst>
              <a:ext uri="{FF2B5EF4-FFF2-40B4-BE49-F238E27FC236}">
                <a16:creationId xmlns:a16="http://schemas.microsoft.com/office/drawing/2014/main" id="{AC4278DF-5F08-9AAF-2882-0D6DED0C1004}"/>
              </a:ext>
            </a:extLst>
          </p:cNvPr>
          <p:cNvSpPr/>
          <p:nvPr/>
        </p:nvSpPr>
        <p:spPr>
          <a:xfrm>
            <a:off x="1526989" y="5646076"/>
            <a:ext cx="212236" cy="4879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2" y="5053"/>
                </a:moveTo>
                <a:lnTo>
                  <a:pt x="11494" y="144"/>
                </a:lnTo>
                <a:cubicBezTo>
                  <a:pt x="11316" y="55"/>
                  <a:pt x="11071" y="0"/>
                  <a:pt x="10800" y="0"/>
                </a:cubicBezTo>
                <a:cubicBezTo>
                  <a:pt x="10529" y="0"/>
                  <a:pt x="10284" y="55"/>
                  <a:pt x="10106" y="144"/>
                </a:cubicBezTo>
                <a:lnTo>
                  <a:pt x="288" y="5053"/>
                </a:lnTo>
                <a:cubicBezTo>
                  <a:pt x="110" y="5142"/>
                  <a:pt x="0" y="5264"/>
                  <a:pt x="0" y="5400"/>
                </a:cubicBezTo>
                <a:cubicBezTo>
                  <a:pt x="0" y="5671"/>
                  <a:pt x="440" y="5891"/>
                  <a:pt x="982" y="5891"/>
                </a:cubicBezTo>
                <a:cubicBezTo>
                  <a:pt x="1253" y="5891"/>
                  <a:pt x="1498" y="5836"/>
                  <a:pt x="1676" y="5747"/>
                </a:cubicBezTo>
                <a:lnTo>
                  <a:pt x="9818" y="1676"/>
                </a:lnTo>
                <a:lnTo>
                  <a:pt x="9818" y="21109"/>
                </a:lnTo>
                <a:cubicBezTo>
                  <a:pt x="9818" y="21380"/>
                  <a:pt x="10258" y="21600"/>
                  <a:pt x="10800" y="21600"/>
                </a:cubicBezTo>
                <a:cubicBezTo>
                  <a:pt x="11342" y="21600"/>
                  <a:pt x="11782" y="21380"/>
                  <a:pt x="11782" y="21109"/>
                </a:cubicBezTo>
                <a:lnTo>
                  <a:pt x="11782" y="1676"/>
                </a:lnTo>
                <a:lnTo>
                  <a:pt x="19924" y="5747"/>
                </a:lnTo>
                <a:cubicBezTo>
                  <a:pt x="20102" y="5836"/>
                  <a:pt x="20347" y="5891"/>
                  <a:pt x="20618" y="5891"/>
                </a:cubicBezTo>
                <a:cubicBezTo>
                  <a:pt x="21160" y="5891"/>
                  <a:pt x="21600" y="5671"/>
                  <a:pt x="21600" y="5400"/>
                </a:cubicBezTo>
                <a:cubicBezTo>
                  <a:pt x="21600" y="5264"/>
                  <a:pt x="21490" y="5142"/>
                  <a:pt x="21312" y="505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2515330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80A40-1D8C-B514-FAED-4FCE42909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3CAEB1-7883-7F26-D098-6C88D34BC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Постановка задачи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226CE1-D4CF-39C4-DE23-F0A80063C057}"/>
              </a:ext>
            </a:extLst>
          </p:cNvPr>
          <p:cNvSpPr txBox="1"/>
          <p:nvPr/>
        </p:nvSpPr>
        <p:spPr>
          <a:xfrm>
            <a:off x="834570" y="1979221"/>
            <a:ext cx="10608623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2400" dirty="0">
                <a:ea typeface="+mn-lt"/>
                <a:cs typeface="+mn-lt"/>
              </a:rPr>
              <a:t>3.  Список всех квартир с общей площадью в диапазоне от N1 до N2 кв.м., отсортированный по следующему ключу: </a:t>
            </a:r>
            <a:endParaRPr lang="ru-RU" dirty="0">
              <a:ea typeface="+mn-lt"/>
              <a:cs typeface="+mn-lt"/>
            </a:endParaRPr>
          </a:p>
          <a:p>
            <a:endParaRPr lang="ru-RU" sz="2400" dirty="0">
              <a:ea typeface="+mn-lt"/>
              <a:cs typeface="+mn-lt"/>
            </a:endParaRPr>
          </a:p>
          <a:p>
            <a:endParaRPr lang="ru-RU" sz="2400" dirty="0">
              <a:ea typeface="+mn-lt"/>
              <a:cs typeface="+mn-lt"/>
            </a:endParaRPr>
          </a:p>
          <a:p>
            <a:r>
              <a:rPr lang="ru-RU" sz="2400" dirty="0">
                <a:ea typeface="+mn-lt"/>
                <a:cs typeface="+mn-lt"/>
              </a:rPr>
              <a:t>   наличие льготы (по возрастанию)</a:t>
            </a:r>
            <a:endParaRPr lang="ru-RU" dirty="0">
              <a:ea typeface="+mn-lt"/>
              <a:cs typeface="+mn-lt"/>
            </a:endParaRPr>
          </a:p>
          <a:p>
            <a:endParaRPr lang="ru-RU" sz="2400" dirty="0">
              <a:ea typeface="+mn-lt"/>
              <a:cs typeface="+mn-lt"/>
            </a:endParaRPr>
          </a:p>
          <a:p>
            <a:endParaRPr lang="ru-RU" sz="2400" dirty="0">
              <a:ea typeface="+mn-lt"/>
              <a:cs typeface="+mn-lt"/>
            </a:endParaRPr>
          </a:p>
          <a:p>
            <a:r>
              <a:rPr lang="ru-RU" sz="2400" dirty="0">
                <a:ea typeface="+mn-lt"/>
                <a:cs typeface="+mn-lt"/>
              </a:rPr>
              <a:t>   общая площадь (по убыванию).  </a:t>
            </a:r>
            <a:endParaRPr lang="ru-RU" dirty="0">
              <a:ea typeface="+mn-lt"/>
              <a:cs typeface="+mn-lt"/>
            </a:endParaRPr>
          </a:p>
        </p:txBody>
      </p:sp>
      <p:sp>
        <p:nvSpPr>
          <p:cNvPr id="15" name="Shape 2896">
            <a:extLst>
              <a:ext uri="{FF2B5EF4-FFF2-40B4-BE49-F238E27FC236}">
                <a16:creationId xmlns:a16="http://schemas.microsoft.com/office/drawing/2014/main" id="{E99EFF02-88D5-4C9F-77AB-82E4843E67EC}"/>
              </a:ext>
            </a:extLst>
          </p:cNvPr>
          <p:cNvSpPr/>
          <p:nvPr/>
        </p:nvSpPr>
        <p:spPr>
          <a:xfrm>
            <a:off x="1546782" y="3498622"/>
            <a:ext cx="212236" cy="4879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2" y="5053"/>
                </a:moveTo>
                <a:lnTo>
                  <a:pt x="11494" y="144"/>
                </a:lnTo>
                <a:cubicBezTo>
                  <a:pt x="11316" y="55"/>
                  <a:pt x="11071" y="0"/>
                  <a:pt x="10800" y="0"/>
                </a:cubicBezTo>
                <a:cubicBezTo>
                  <a:pt x="10529" y="0"/>
                  <a:pt x="10284" y="55"/>
                  <a:pt x="10106" y="144"/>
                </a:cubicBezTo>
                <a:lnTo>
                  <a:pt x="288" y="5053"/>
                </a:lnTo>
                <a:cubicBezTo>
                  <a:pt x="110" y="5142"/>
                  <a:pt x="0" y="5264"/>
                  <a:pt x="0" y="5400"/>
                </a:cubicBezTo>
                <a:cubicBezTo>
                  <a:pt x="0" y="5671"/>
                  <a:pt x="440" y="5891"/>
                  <a:pt x="982" y="5891"/>
                </a:cubicBezTo>
                <a:cubicBezTo>
                  <a:pt x="1253" y="5891"/>
                  <a:pt x="1498" y="5836"/>
                  <a:pt x="1676" y="5747"/>
                </a:cubicBezTo>
                <a:lnTo>
                  <a:pt x="9818" y="1676"/>
                </a:lnTo>
                <a:lnTo>
                  <a:pt x="9818" y="21109"/>
                </a:lnTo>
                <a:cubicBezTo>
                  <a:pt x="9818" y="21380"/>
                  <a:pt x="10258" y="21600"/>
                  <a:pt x="10800" y="21600"/>
                </a:cubicBezTo>
                <a:cubicBezTo>
                  <a:pt x="11342" y="21600"/>
                  <a:pt x="11782" y="21380"/>
                  <a:pt x="11782" y="21109"/>
                </a:cubicBezTo>
                <a:lnTo>
                  <a:pt x="11782" y="1676"/>
                </a:lnTo>
                <a:lnTo>
                  <a:pt x="19924" y="5747"/>
                </a:lnTo>
                <a:cubicBezTo>
                  <a:pt x="20102" y="5836"/>
                  <a:pt x="20347" y="5891"/>
                  <a:pt x="20618" y="5891"/>
                </a:cubicBezTo>
                <a:cubicBezTo>
                  <a:pt x="21160" y="5891"/>
                  <a:pt x="21600" y="5671"/>
                  <a:pt x="21600" y="5400"/>
                </a:cubicBezTo>
                <a:cubicBezTo>
                  <a:pt x="21600" y="5264"/>
                  <a:pt x="21490" y="5142"/>
                  <a:pt x="21312" y="505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  <p:sp>
        <p:nvSpPr>
          <p:cNvPr id="18" name="Shape 2896">
            <a:extLst>
              <a:ext uri="{FF2B5EF4-FFF2-40B4-BE49-F238E27FC236}">
                <a16:creationId xmlns:a16="http://schemas.microsoft.com/office/drawing/2014/main" id="{B224C00F-C643-3635-E21E-C574CD5F3084}"/>
              </a:ext>
            </a:extLst>
          </p:cNvPr>
          <p:cNvSpPr/>
          <p:nvPr/>
        </p:nvSpPr>
        <p:spPr>
          <a:xfrm flipV="1">
            <a:off x="1546780" y="4461604"/>
            <a:ext cx="212236" cy="5643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2" y="5053"/>
                </a:moveTo>
                <a:lnTo>
                  <a:pt x="11494" y="144"/>
                </a:lnTo>
                <a:cubicBezTo>
                  <a:pt x="11316" y="55"/>
                  <a:pt x="11071" y="0"/>
                  <a:pt x="10800" y="0"/>
                </a:cubicBezTo>
                <a:cubicBezTo>
                  <a:pt x="10529" y="0"/>
                  <a:pt x="10284" y="55"/>
                  <a:pt x="10106" y="144"/>
                </a:cubicBezTo>
                <a:lnTo>
                  <a:pt x="288" y="5053"/>
                </a:lnTo>
                <a:cubicBezTo>
                  <a:pt x="110" y="5142"/>
                  <a:pt x="0" y="5264"/>
                  <a:pt x="0" y="5400"/>
                </a:cubicBezTo>
                <a:cubicBezTo>
                  <a:pt x="0" y="5671"/>
                  <a:pt x="440" y="5891"/>
                  <a:pt x="982" y="5891"/>
                </a:cubicBezTo>
                <a:cubicBezTo>
                  <a:pt x="1253" y="5891"/>
                  <a:pt x="1498" y="5836"/>
                  <a:pt x="1676" y="5747"/>
                </a:cubicBezTo>
                <a:lnTo>
                  <a:pt x="9818" y="1676"/>
                </a:lnTo>
                <a:lnTo>
                  <a:pt x="9818" y="21109"/>
                </a:lnTo>
                <a:cubicBezTo>
                  <a:pt x="9818" y="21380"/>
                  <a:pt x="10258" y="21600"/>
                  <a:pt x="10800" y="21600"/>
                </a:cubicBezTo>
                <a:cubicBezTo>
                  <a:pt x="11342" y="21600"/>
                  <a:pt x="11782" y="21380"/>
                  <a:pt x="11782" y="21109"/>
                </a:cubicBezTo>
                <a:lnTo>
                  <a:pt x="11782" y="1676"/>
                </a:lnTo>
                <a:lnTo>
                  <a:pt x="19924" y="5747"/>
                </a:lnTo>
                <a:cubicBezTo>
                  <a:pt x="20102" y="5836"/>
                  <a:pt x="20347" y="5891"/>
                  <a:pt x="20618" y="5891"/>
                </a:cubicBezTo>
                <a:cubicBezTo>
                  <a:pt x="21160" y="5891"/>
                  <a:pt x="21600" y="5671"/>
                  <a:pt x="21600" y="5400"/>
                </a:cubicBezTo>
                <a:cubicBezTo>
                  <a:pt x="21600" y="5264"/>
                  <a:pt x="21490" y="5142"/>
                  <a:pt x="21312" y="505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2860" rIns="22860" anchor="ctr"/>
          <a:lstStyle/>
          <a:p>
            <a:pPr defTabSz="228531">
              <a:defRPr sz="29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Lato Regular"/>
                <a:ea typeface="Lato Regular"/>
                <a:cs typeface="Lato Regular"/>
                <a:sym typeface="Lato Regular"/>
              </a:defRPr>
            </a:pP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1563498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51FD6-D3C9-4D9B-4697-E3B974F7F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8FD265-5E8E-18F0-CED6-24E45875E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Постановка задачи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6F6F47-0B6F-00F4-3B71-4708EF1D55F4}"/>
              </a:ext>
            </a:extLst>
          </p:cNvPr>
          <p:cNvSpPr txBox="1"/>
          <p:nvPr/>
        </p:nvSpPr>
        <p:spPr>
          <a:xfrm>
            <a:off x="841168" y="2643908"/>
            <a:ext cx="10638311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2800" dirty="0">
                <a:ea typeface="+mn-lt"/>
                <a:cs typeface="+mn-lt"/>
              </a:rPr>
              <a:t>Создать базу квартиросъёмщиков, включающую не менее 25 записей и на основе неё сформировать все указанные отчеты.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AD2296-FE48-CCCD-9D1D-B5594FBD2AF1}"/>
              </a:ext>
            </a:extLst>
          </p:cNvPr>
          <p:cNvSpPr txBox="1"/>
          <p:nvPr/>
        </p:nvSpPr>
        <p:spPr>
          <a:xfrm>
            <a:off x="837045" y="4814454"/>
            <a:ext cx="1059872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2800" dirty="0">
                <a:ea typeface="+mn-lt"/>
                <a:cs typeface="+mn-lt"/>
              </a:rPr>
              <a:t>Для сортировки записей использовать метод Шелла. </a:t>
            </a:r>
          </a:p>
        </p:txBody>
      </p:sp>
    </p:spTree>
    <p:extLst>
      <p:ext uri="{BB962C8B-B14F-4D97-AF65-F5344CB8AC3E}">
        <p14:creationId xmlns:p14="http://schemas.microsoft.com/office/powerpoint/2010/main" val="2197070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87E10-CBDA-BF55-5517-E06CEF822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 descr="Изображение выглядит как текст, диаграмма, линия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02861A3-770A-64FB-7449-75A637A72F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947" y="0"/>
            <a:ext cx="9243391" cy="685800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DC25BDB-9FBC-3ACC-B921-32B6874A201F}"/>
              </a:ext>
            </a:extLst>
          </p:cNvPr>
          <p:cNvSpPr/>
          <p:nvPr/>
        </p:nvSpPr>
        <p:spPr>
          <a:xfrm>
            <a:off x="0" y="0"/>
            <a:ext cx="5155870" cy="96981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A9D340-6D6D-8898-3484-9C3D1DAA9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4" y="2268"/>
            <a:ext cx="5228772" cy="1044349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chemeClr val="bg1"/>
                </a:solidFill>
              </a:rPr>
              <a:t>Алгоритм решения</a:t>
            </a:r>
            <a:endParaRPr lang="ru-RU" sz="4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774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0C9BF-EEC5-8C54-2935-42EE87164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Изображение выглядит как диаграмма, текст, линия, оригам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51F8A72-62E9-F7B0-94A4-F409551F8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" y="18142"/>
            <a:ext cx="10665035" cy="685800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BDC79D7-A626-2DA4-00EB-ADD5E90D9FBA}"/>
              </a:ext>
            </a:extLst>
          </p:cNvPr>
          <p:cNvSpPr/>
          <p:nvPr/>
        </p:nvSpPr>
        <p:spPr>
          <a:xfrm>
            <a:off x="7039429" y="18143"/>
            <a:ext cx="5155870" cy="96981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CAFCA6-7A10-815D-7F84-8868FF696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1243" y="20411"/>
            <a:ext cx="5228772" cy="1044349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chemeClr val="bg1"/>
                </a:solidFill>
              </a:rPr>
              <a:t>Алгоритм решения</a:t>
            </a:r>
            <a:endParaRPr lang="ru-RU" sz="4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2037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57F24-7C0D-CD5E-76C1-30FF35F3C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диаграмма, снимок экрана, круг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F576DD9-66FF-2C6B-9901-45D1EF00B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3186" y="11113"/>
            <a:ext cx="7750627" cy="6853917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A31F1E4-C55E-7AF8-AFFE-FC4903E0FF79}"/>
              </a:ext>
            </a:extLst>
          </p:cNvPr>
          <p:cNvSpPr/>
          <p:nvPr/>
        </p:nvSpPr>
        <p:spPr>
          <a:xfrm>
            <a:off x="9072" y="9072"/>
            <a:ext cx="5155870" cy="96981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79829D-AE4D-C662-EF26-E49969956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6" y="11340"/>
            <a:ext cx="5228772" cy="1044349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chemeClr val="bg1"/>
                </a:solidFill>
              </a:rPr>
              <a:t>Алгоритм решения</a:t>
            </a:r>
            <a:endParaRPr lang="ru-RU" sz="4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1775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5A295-1D3D-48B3-FA8D-76BAF8060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текст, диаграмма, зарисовка, Технический чертеж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E956F0E-08E5-10A6-177E-AA3B663EE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2354"/>
            <a:ext cx="11113325" cy="5994254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95D552E-21AB-E033-81BB-58909DE8F82A}"/>
              </a:ext>
            </a:extLst>
          </p:cNvPr>
          <p:cNvSpPr/>
          <p:nvPr/>
        </p:nvSpPr>
        <p:spPr>
          <a:xfrm>
            <a:off x="7039429" y="18143"/>
            <a:ext cx="5155870" cy="96981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EC6599-ACD0-7DB5-E162-24518A075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1243" y="20411"/>
            <a:ext cx="5228772" cy="1044349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chemeClr val="bg1"/>
                </a:solidFill>
              </a:rPr>
              <a:t>Алгоритм решения</a:t>
            </a:r>
            <a:endParaRPr lang="ru-RU" sz="4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2371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78CAC-31C9-5957-7E3A-984965288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75DAF1-A4D5-5DBE-AC0D-586455A3C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и структуры данных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8A4617-70BA-930C-BC5C-3B6074381D11}"/>
              </a:ext>
            </a:extLst>
          </p:cNvPr>
          <p:cNvSpPr txBox="1"/>
          <p:nvPr/>
        </p:nvSpPr>
        <p:spPr>
          <a:xfrm>
            <a:off x="821376" y="2008908"/>
            <a:ext cx="9896103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sz="4400" dirty="0"/>
              <a:t>Словари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98B4AE-7FC2-4194-7175-BBAC77966530}"/>
              </a:ext>
            </a:extLst>
          </p:cNvPr>
          <p:cNvSpPr txBox="1"/>
          <p:nvPr/>
        </p:nvSpPr>
        <p:spPr>
          <a:xfrm>
            <a:off x="821376" y="3008415"/>
            <a:ext cx="10390908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AutoNum type="arabicPeriod"/>
            </a:pPr>
            <a:r>
              <a:rPr lang="ru-RU" sz="4000" dirty="0"/>
              <a:t>Простота восприятия</a:t>
            </a:r>
          </a:p>
          <a:p>
            <a:pPr marL="457200" indent="-457200">
              <a:buAutoNum type="arabicPeriod"/>
            </a:pPr>
            <a:r>
              <a:rPr lang="ru-RU" sz="4000" dirty="0"/>
              <a:t>Гибкость</a:t>
            </a:r>
          </a:p>
          <a:p>
            <a:pPr marL="457200" indent="-457200">
              <a:buAutoNum type="arabicPeriod"/>
            </a:pPr>
            <a:r>
              <a:rPr lang="ru-RU" sz="4000" dirty="0"/>
              <a:t>Простота отладки</a:t>
            </a:r>
          </a:p>
          <a:p>
            <a:pPr marL="457200" indent="-457200">
              <a:buAutoNum type="arabicPeriod"/>
            </a:pPr>
            <a:r>
              <a:rPr lang="ru-RU" sz="4000" dirty="0"/>
              <a:t>Защита от ошибок</a:t>
            </a:r>
          </a:p>
        </p:txBody>
      </p:sp>
    </p:spTree>
    <p:extLst>
      <p:ext uri="{BB962C8B-B14F-4D97-AF65-F5344CB8AC3E}">
        <p14:creationId xmlns:p14="http://schemas.microsoft.com/office/powerpoint/2010/main" val="1803415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90B41-C347-D0CC-3AD9-BEF885991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50EC61-8664-EA9E-22C5-4F453914E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и структуры данных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2A56E9-61AD-0391-6947-CAA92D9F049F}"/>
              </a:ext>
            </a:extLst>
          </p:cNvPr>
          <p:cNvSpPr txBox="1"/>
          <p:nvPr/>
        </p:nvSpPr>
        <p:spPr>
          <a:xfrm>
            <a:off x="821376" y="2008908"/>
            <a:ext cx="9896103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sz="4400" dirty="0"/>
              <a:t>Списки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282617-C597-D8AD-FBAE-E4E5F21E1E79}"/>
              </a:ext>
            </a:extLst>
          </p:cNvPr>
          <p:cNvSpPr txBox="1"/>
          <p:nvPr/>
        </p:nvSpPr>
        <p:spPr>
          <a:xfrm>
            <a:off x="821376" y="3008415"/>
            <a:ext cx="10390908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AutoNum type="arabicPeriod"/>
            </a:pPr>
            <a:r>
              <a:rPr lang="ru-RU" sz="4000" dirty="0"/>
              <a:t> Изменяемость</a:t>
            </a:r>
          </a:p>
          <a:p>
            <a:pPr marL="457200" indent="-457200">
              <a:buAutoNum type="arabicPeriod"/>
            </a:pPr>
            <a:r>
              <a:rPr lang="ru-RU" sz="4000"/>
              <a:t> Динамический размер</a:t>
            </a:r>
          </a:p>
          <a:p>
            <a:pPr marL="457200" indent="-457200">
              <a:buAutoNum type="arabicPeriod"/>
            </a:pPr>
            <a:r>
              <a:rPr lang="ru-RU" sz="4000" dirty="0"/>
              <a:t> Простота обработки</a:t>
            </a:r>
          </a:p>
        </p:txBody>
      </p:sp>
    </p:spTree>
    <p:extLst>
      <p:ext uri="{BB962C8B-B14F-4D97-AF65-F5344CB8AC3E}">
        <p14:creationId xmlns:p14="http://schemas.microsoft.com/office/powerpoint/2010/main" val="7233752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53ED0-E29C-0D53-6ADA-221BE7AB1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D2533D-0352-7EB2-F270-1177CE3F6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и структуры данных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92D69D-89D7-D8E8-7E46-4CDA7277AD49}"/>
              </a:ext>
            </a:extLst>
          </p:cNvPr>
          <p:cNvSpPr txBox="1"/>
          <p:nvPr/>
        </p:nvSpPr>
        <p:spPr>
          <a:xfrm>
            <a:off x="821376" y="2008908"/>
            <a:ext cx="9896103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sz="4400" dirty="0"/>
              <a:t>Кортежи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4ACBBE-4C8C-5BF4-53D2-BC226D518091}"/>
              </a:ext>
            </a:extLst>
          </p:cNvPr>
          <p:cNvSpPr txBox="1"/>
          <p:nvPr/>
        </p:nvSpPr>
        <p:spPr>
          <a:xfrm>
            <a:off x="821376" y="3008415"/>
            <a:ext cx="10390908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AutoNum type="arabicPeriod"/>
            </a:pPr>
            <a:r>
              <a:rPr lang="ru-RU" sz="4000" dirty="0"/>
              <a:t>Неизменяемость</a:t>
            </a:r>
          </a:p>
          <a:p>
            <a:pPr marL="457200" indent="-457200">
              <a:buAutoNum type="arabicPeriod"/>
            </a:pPr>
            <a:r>
              <a:rPr lang="ru-RU" sz="4000" dirty="0"/>
              <a:t>Естественный порядок сравнения</a:t>
            </a:r>
          </a:p>
          <a:p>
            <a:pPr marL="457200" indent="-457200">
              <a:buAutoNum type="arabicPeriod"/>
            </a:pPr>
            <a:r>
              <a:rPr lang="ru-RU" sz="4000" dirty="0"/>
              <a:t>Производительность</a:t>
            </a:r>
          </a:p>
          <a:p>
            <a:pPr marL="457200" indent="-457200">
              <a:buAutoNum type="arabicPeriod"/>
            </a:pPr>
            <a:r>
              <a:rPr lang="ru-RU" sz="4000" dirty="0"/>
              <a:t>Читаемость</a:t>
            </a:r>
          </a:p>
        </p:txBody>
      </p:sp>
    </p:spTree>
    <p:extLst>
      <p:ext uri="{BB962C8B-B14F-4D97-AF65-F5344CB8AC3E}">
        <p14:creationId xmlns:p14="http://schemas.microsoft.com/office/powerpoint/2010/main" val="4133308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605FB-4E9E-0851-FDA8-63CF37AED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C4DDC2-4911-7FB0-ADC3-DF2686C84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Ключевые особенности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5DD42D-163F-C77F-6CA4-F31BB35D1B5C}"/>
              </a:ext>
            </a:extLst>
          </p:cNvPr>
          <p:cNvSpPr txBox="1"/>
          <p:nvPr/>
        </p:nvSpPr>
        <p:spPr>
          <a:xfrm>
            <a:off x="771895" y="2909453"/>
            <a:ext cx="10816440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742950" indent="-742950">
              <a:buAutoNum type="arabicPeriod"/>
            </a:pPr>
            <a:r>
              <a:rPr lang="ru-RU" sz="4400" dirty="0"/>
              <a:t>Многоуровневая сортировка</a:t>
            </a:r>
          </a:p>
          <a:p>
            <a:pPr marL="742950" indent="-742950">
              <a:buAutoNum type="arabicPeriod"/>
            </a:pPr>
            <a:endParaRPr lang="ru-RU" sz="4400" dirty="0"/>
          </a:p>
          <a:p>
            <a:pPr marL="742950" indent="-742950">
              <a:buAutoNum type="arabicPeriod"/>
            </a:pPr>
            <a:r>
              <a:rPr lang="ru-RU" sz="4400" dirty="0"/>
              <a:t>Аргумент </a:t>
            </a:r>
            <a:r>
              <a:rPr lang="ru-RU" sz="4400" dirty="0" err="1"/>
              <a:t>key</a:t>
            </a:r>
            <a:r>
              <a:rPr lang="ru-RU" sz="4400" dirty="0"/>
              <a:t> в функции сортировки</a:t>
            </a:r>
          </a:p>
        </p:txBody>
      </p:sp>
    </p:spTree>
    <p:extLst>
      <p:ext uri="{BB962C8B-B14F-4D97-AF65-F5344CB8AC3E}">
        <p14:creationId xmlns:p14="http://schemas.microsoft.com/office/powerpoint/2010/main" val="30131482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65BC0-299F-E066-D082-82E6FBA2D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C1EC3D-F6A7-76A3-6984-077CB71FB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Демонстрация работы</a:t>
            </a:r>
          </a:p>
        </p:txBody>
      </p:sp>
      <p:pic>
        <p:nvPicPr>
          <p:cNvPr id="4" name="Рисунок 3" descr="Изображение выглядит как текст, снимок экрана, дисплей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63F39B4-62EC-CC0B-ECB6-EA099A188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69" y="2521960"/>
            <a:ext cx="12197937" cy="40011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63A7E1-443E-1062-4188-502B186CE9D2}"/>
              </a:ext>
            </a:extLst>
          </p:cNvPr>
          <p:cNvSpPr txBox="1"/>
          <p:nvPr/>
        </p:nvSpPr>
        <p:spPr>
          <a:xfrm>
            <a:off x="841169" y="1860468"/>
            <a:ext cx="336467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2800" dirty="0"/>
              <a:t>Отсутствие файла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90935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BEACF-0749-329D-E64E-4D8AF2E35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4BD464-4F0A-4356-897E-A0DFDF45C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Демонстрация работы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E3AA4C-FA97-F570-5369-055333B8698A}"/>
              </a:ext>
            </a:extLst>
          </p:cNvPr>
          <p:cNvSpPr txBox="1"/>
          <p:nvPr/>
        </p:nvSpPr>
        <p:spPr>
          <a:xfrm>
            <a:off x="841169" y="1860468"/>
            <a:ext cx="1118259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2800" dirty="0">
                <a:latin typeface="PermianSansTypeface"/>
                <a:cs typeface="Times New Roman"/>
              </a:rPr>
              <a:t>Пустой файл или отсутствие корректных записей в файле</a:t>
            </a:r>
            <a:endParaRPr lang="ru-RU" dirty="0"/>
          </a:p>
        </p:txBody>
      </p:sp>
      <p:pic>
        <p:nvPicPr>
          <p:cNvPr id="3" name="Рисунок 2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616E099-7D70-CCDA-4537-A6BB37D3A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69" y="2590738"/>
            <a:ext cx="12197937" cy="2903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8098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844DA-CA2F-A1FE-C754-C2A81065F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807002-10E2-C57E-B2C5-CA4B53A63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Демонстрация работы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39BFE4-4A2D-C8AE-FCDC-EFAB7146043E}"/>
              </a:ext>
            </a:extLst>
          </p:cNvPr>
          <p:cNvSpPr txBox="1"/>
          <p:nvPr/>
        </p:nvSpPr>
        <p:spPr>
          <a:xfrm>
            <a:off x="4383974" y="1860468"/>
            <a:ext cx="342405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2800">
                <a:latin typeface="PermianSansTypeface"/>
                <a:cs typeface="Times New Roman"/>
              </a:rPr>
              <a:t>Ошибки в записях</a:t>
            </a:r>
            <a:endParaRPr lang="ru-RU"/>
          </a:p>
        </p:txBody>
      </p:sp>
      <p:pic>
        <p:nvPicPr>
          <p:cNvPr id="4" name="Рисунок 3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6DC22F6-2CA1-1802-A074-1FC20AED2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7810" y="2385518"/>
            <a:ext cx="8536379" cy="447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3622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F7817-6597-14CA-4C56-4C7A73394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616BC2-8F41-3889-8841-2078E822C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Демонстрация работы</a:t>
            </a:r>
          </a:p>
        </p:txBody>
      </p:sp>
      <p:pic>
        <p:nvPicPr>
          <p:cNvPr id="3" name="Рисунок 2" descr="Изображение выглядит как текс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7708C6F-C4CE-63BC-F6B2-834E1E7276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42" y="1879950"/>
            <a:ext cx="11742716" cy="4978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2291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5EB56-33B4-2E7F-A046-484FA6549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198B49-0F24-A9FD-771A-DD0B3EFE9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Демонстрация работы</a:t>
            </a:r>
          </a:p>
        </p:txBody>
      </p:sp>
      <p:pic>
        <p:nvPicPr>
          <p:cNvPr id="4" name="Рисунок 3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A65C9E5-6CF1-A520-2304-F0CEC51E9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69" y="2795959"/>
            <a:ext cx="12197937" cy="2631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2174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5F1EC-E0F6-FFC9-B4F5-B6FCF03D5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F06E6A-9369-15C3-A753-73DF81072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Демонстрация работы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097293-9A69-8AAB-2F9B-24BF5A767C1D}"/>
              </a:ext>
            </a:extLst>
          </p:cNvPr>
          <p:cNvSpPr txBox="1"/>
          <p:nvPr/>
        </p:nvSpPr>
        <p:spPr>
          <a:xfrm>
            <a:off x="3849583" y="2018804"/>
            <a:ext cx="449283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2800" dirty="0"/>
              <a:t>Пример создания отчета</a:t>
            </a:r>
          </a:p>
        </p:txBody>
      </p:sp>
      <p:pic>
        <p:nvPicPr>
          <p:cNvPr id="5" name="Рисунок 4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E2901F5-1FD7-E5C9-180F-BAA2B65DA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96" y="2539959"/>
            <a:ext cx="12019807" cy="4321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8717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AECD8-4867-5B0A-4038-BCFB69313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B07D7F-6720-013A-34DB-68188450E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Демонстрация работы</a:t>
            </a:r>
          </a:p>
        </p:txBody>
      </p:sp>
      <p:pic>
        <p:nvPicPr>
          <p:cNvPr id="4" name="Рисунок 3" descr="Изображение выглядит как текс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A37A917-68BF-F95D-6839-F0B122F135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431" r="166" b="58260"/>
          <a:stretch>
            <a:fillRect/>
          </a:stretch>
        </p:blipFill>
        <p:spPr>
          <a:xfrm>
            <a:off x="-2969" y="1710995"/>
            <a:ext cx="12197949" cy="4646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9434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079F8-DD28-A8F9-A7D4-BDF7E924F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65ECD1-23E2-11CA-D551-A47CD16FA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Демонстрация работы</a:t>
            </a:r>
          </a:p>
        </p:txBody>
      </p:sp>
      <p:pic>
        <p:nvPicPr>
          <p:cNvPr id="3" name="Рисунок 2" descr="Изображение выглядит как текс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DE92D69-B816-C8A4-14F6-C6FC0FA903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0659" r="166" b="-183"/>
          <a:stretch>
            <a:fillRect/>
          </a:stretch>
        </p:blipFill>
        <p:spPr>
          <a:xfrm>
            <a:off x="1491343" y="1812471"/>
            <a:ext cx="9209326" cy="5041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6232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03D55-D8EA-4968-9D14-70A90C241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DE3967-1EF9-E79C-C64B-3B2A93043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Демонстрация работы</a:t>
            </a:r>
          </a:p>
        </p:txBody>
      </p:sp>
      <p:pic>
        <p:nvPicPr>
          <p:cNvPr id="5" name="Рисунок 4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F0792AC-9449-1A66-CA68-C7676B824D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2" b="8009"/>
          <a:stretch>
            <a:fillRect/>
          </a:stretch>
        </p:blipFill>
        <p:spPr>
          <a:xfrm>
            <a:off x="86096" y="2163907"/>
            <a:ext cx="12009916" cy="3975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3132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BDA10-A677-B8A9-40F6-DEAFE2583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A79312-45AC-81F7-77C9-D0386029A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Оценка сложности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ECA12F4-E4AD-E0B7-77AF-4690FDD7AF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ru-RU" sz="2800" dirty="0"/>
              <a:t>Чтение и проверка</a:t>
            </a:r>
            <a:endParaRPr lang="ru-RU" sz="280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A07EB08-57AE-BDE6-166A-D73926FC09F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ru-RU" sz="2800" noProof="1"/>
              <a:t>ЛинейнаяО</a:t>
            </a:r>
            <a:r>
              <a:rPr lang="ru-RU" sz="2800" dirty="0"/>
              <a:t>(n)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7B60BACA-B78A-C432-416B-0401D47D721E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ru-RU" sz="2800" dirty="0"/>
              <a:t>Сортировка Шелла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E0400B8F-D821-0CCC-EBE8-38D31FCA1364}"/>
              </a:ext>
            </a:extLst>
          </p:cNvPr>
          <p:cNvSpPr>
            <a:spLocks noGrp="1"/>
          </p:cNvSpPr>
          <p:nvPr>
            <p:ph sz="half" idx="11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ru-RU" sz="2800" dirty="0"/>
              <a:t>В среднем</a:t>
            </a:r>
          </a:p>
          <a:p>
            <a:pPr marL="0" indent="0" algn="ctr">
              <a:buNone/>
            </a:pPr>
            <a:r>
              <a:rPr lang="ru-RU" sz="2800" dirty="0"/>
              <a:t>О(n^1.5)</a:t>
            </a:r>
          </a:p>
          <a:p>
            <a:pPr algn="ctr"/>
            <a:r>
              <a:rPr lang="ru-RU" sz="2800" dirty="0"/>
              <a:t>В худшем</a:t>
            </a:r>
          </a:p>
          <a:p>
            <a:pPr marL="0" indent="0" algn="ctr">
              <a:buNone/>
            </a:pPr>
            <a:r>
              <a:rPr lang="ru-RU" sz="2800" dirty="0"/>
              <a:t>О(n^2)</a:t>
            </a:r>
          </a:p>
          <a:p>
            <a:pPr algn="ctr"/>
            <a:r>
              <a:rPr lang="ru-RU" sz="2800" dirty="0"/>
              <a:t>В лучшем</a:t>
            </a:r>
            <a:endParaRPr lang="en-US" sz="2800" dirty="0"/>
          </a:p>
          <a:p>
            <a:pPr marL="0" indent="0" algn="ctr">
              <a:buNone/>
            </a:pPr>
            <a:r>
              <a:rPr lang="ru-RU" sz="2800" dirty="0"/>
              <a:t>О(n </a:t>
            </a:r>
            <a:r>
              <a:rPr lang="ru-RU" sz="2800" noProof="1"/>
              <a:t>log</a:t>
            </a:r>
            <a:r>
              <a:rPr lang="ru-RU" sz="2800" dirty="0"/>
              <a:t> n)</a:t>
            </a:r>
            <a:endParaRPr lang="ru-RU" dirty="0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06080327-B17F-0921-9DD1-8A40C5373BD4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algn="ctr"/>
            <a:r>
              <a:rPr lang="ru-RU" sz="2800" dirty="0"/>
              <a:t>Фильтрация в заданиях</a:t>
            </a:r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63D27EEA-455F-76D4-4EC5-08284E4204F1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ru-RU" sz="2800" noProof="1"/>
              <a:t>ЛинейнаяО</a:t>
            </a:r>
            <a:r>
              <a:rPr lang="ru-RU" sz="2800" dirty="0"/>
              <a:t>(n)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1E3104B2-3C93-0331-1B00-76FAD1B80177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algn="ctr"/>
            <a:r>
              <a:rPr lang="ru-RU" sz="2800" dirty="0"/>
              <a:t>Вывод результатов</a:t>
            </a:r>
          </a:p>
        </p:txBody>
      </p:sp>
      <p:sp>
        <p:nvSpPr>
          <p:cNvPr id="11" name="Объект 10">
            <a:extLst>
              <a:ext uri="{FF2B5EF4-FFF2-40B4-BE49-F238E27FC236}">
                <a16:creationId xmlns:a16="http://schemas.microsoft.com/office/drawing/2014/main" id="{0FDDFFC7-DFB4-6857-4D22-93C3A2D51A88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ru-RU" sz="2800" noProof="1"/>
              <a:t>ЛинейнаяО</a:t>
            </a:r>
            <a:r>
              <a:rPr lang="ru-RU" sz="2800" dirty="0"/>
              <a:t>(k)</a:t>
            </a:r>
          </a:p>
          <a:p>
            <a:pPr algn="ctr"/>
            <a:r>
              <a:rPr lang="ru-RU" sz="2400" dirty="0"/>
              <a:t>k - кол-во выводимых записей</a:t>
            </a:r>
            <a:r>
              <a:rPr lang="ru-RU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745187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3">
            <a:extLst>
              <a:ext uri="{FF2B5EF4-FFF2-40B4-BE49-F238E27FC236}">
                <a16:creationId xmlns:a16="http://schemas.microsoft.com/office/drawing/2014/main" id="{D81CF257-4589-1EDA-1600-242CFE8367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C4BD05-04FC-BF28-D86E-8BFE1251B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8252" y="2795194"/>
            <a:ext cx="6336805" cy="1325563"/>
          </a:xfrm>
        </p:spPr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145393782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Другая 37">
      <a:dk1>
        <a:sysClr val="windowText" lastClr="000000"/>
      </a:dk1>
      <a:lt1>
        <a:sysClr val="window" lastClr="FFFFFF"/>
      </a:lt1>
      <a:dk2>
        <a:srgbClr val="595959"/>
      </a:dk2>
      <a:lt2>
        <a:srgbClr val="E7E6E6"/>
      </a:lt2>
      <a:accent1>
        <a:srgbClr val="C62E3E"/>
      </a:accent1>
      <a:accent2>
        <a:srgbClr val="FFC000"/>
      </a:accent2>
      <a:accent3>
        <a:srgbClr val="A5A5A5"/>
      </a:accent3>
      <a:accent4>
        <a:srgbClr val="7030A0"/>
      </a:accent4>
      <a:accent5>
        <a:srgbClr val="4DFE9D"/>
      </a:accent5>
      <a:accent6>
        <a:srgbClr val="046DD5"/>
      </a:accent6>
      <a:hlink>
        <a:srgbClr val="2992FA"/>
      </a:hlink>
      <a:folHlink>
        <a:srgbClr val="7030A0"/>
      </a:folHlink>
    </a:clrScheme>
    <a:fontScheme name="Другая 13">
      <a:majorFont>
        <a:latin typeface="PermianSerifTypeface"/>
        <a:ea typeface=""/>
        <a:cs typeface=""/>
      </a:majorFont>
      <a:minorFont>
        <a:latin typeface="PermianSansTypeface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791</TotalTime>
  <Words>156</Words>
  <Application>Microsoft Office PowerPoint</Application>
  <PresentationFormat>Широкоэкранный</PresentationFormat>
  <Paragraphs>15</Paragraphs>
  <Slides>25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26" baseType="lpstr">
      <vt:lpstr>Тема Office</vt:lpstr>
      <vt:lpstr>ИНДИВИДУАЛЬНОЕ ЗАДАНИЕ  Вариант №7 Программа "Квартиросъёмщик"</vt:lpstr>
      <vt:lpstr>Постановка задачи</vt:lpstr>
      <vt:lpstr>Постановка задачи</vt:lpstr>
      <vt:lpstr>Постановка задачи</vt:lpstr>
      <vt:lpstr>Постановка задачи</vt:lpstr>
      <vt:lpstr>Постановка задачи</vt:lpstr>
      <vt:lpstr>Алгоритм решения</vt:lpstr>
      <vt:lpstr>Алгоритм решения</vt:lpstr>
      <vt:lpstr>Алгоритм решения</vt:lpstr>
      <vt:lpstr>Алгоритм решения</vt:lpstr>
      <vt:lpstr>Типы и структуры данных</vt:lpstr>
      <vt:lpstr>Типы и структуры данных</vt:lpstr>
      <vt:lpstr>Типы и структуры данных</vt:lpstr>
      <vt:lpstr>Ключевые особенности</vt:lpstr>
      <vt:lpstr>Демонстрация работы</vt:lpstr>
      <vt:lpstr>Демонстрация работы</vt:lpstr>
      <vt:lpstr>Демонстрация работы</vt:lpstr>
      <vt:lpstr>Демонстрация работы</vt:lpstr>
      <vt:lpstr>Демонстрация работы</vt:lpstr>
      <vt:lpstr>Демонстрация работы</vt:lpstr>
      <vt:lpstr>Демонстрация работы</vt:lpstr>
      <vt:lpstr>Демонстрация работы</vt:lpstr>
      <vt:lpstr>Демонстрация работы</vt:lpstr>
      <vt:lpstr>Оценка сложности</vt:lpstr>
      <vt:lpstr>Спасибо за внимание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Полина Масленникова</dc:creator>
  <cp:lastModifiedBy>Дмитрий Колодкин</cp:lastModifiedBy>
  <cp:revision>497</cp:revision>
  <dcterms:created xsi:type="dcterms:W3CDTF">2020-05-17T17:29:28Z</dcterms:created>
  <dcterms:modified xsi:type="dcterms:W3CDTF">2026-01-14T16:40:40Z</dcterms:modified>
</cp:coreProperties>
</file>